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ANALYSE DE L'INTÉGRATION DES ÉTUDIANTS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Étude de cas - ACM et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t>Baromètre ISEM 2017 • 625 étudiants • 4 étapes méthodologiques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8C8C8"/>
                </a:solidFill>
              </a:defRPr>
            </a:pPr>
            <a:r>
              <a:t>Février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PLAN DE PRÉSENTATION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2000" b="1">
                <a:solidFill>
                  <a:srgbClr val="4472C4"/>
                </a:solidFill>
              </a:defRPr>
            </a:pPr>
            <a:r>
              <a:t>1. CONTEXTE ET OBJECTIFS</a:t>
            </a:r>
          </a:p>
          <a:p>
            <a:pPr>
              <a:spcAft>
                <a:spcPts val="1500"/>
              </a:spcAft>
              <a:defRPr sz="1400">
                <a:solidFill>
                  <a:srgbClr val="595959"/>
                </a:solidFill>
              </a:defRPr>
            </a:pPr>
            <a:r>
              <a:t>   Population, problématique, méthodologie</a:t>
            </a:r>
          </a:p>
          <a:p>
            <a:pPr>
              <a:spcAft>
                <a:spcPts val="500"/>
              </a:spcAft>
              <a:defRPr sz="2000" b="1">
                <a:solidFill>
                  <a:srgbClr val="4472C4"/>
                </a:solidFill>
              </a:defRPr>
            </a:pPr>
            <a:r>
              <a:t>2. ÉTAPE 1 : Exploration et Nettoyage</a:t>
            </a:r>
          </a:p>
          <a:p>
            <a:pPr>
              <a:spcAft>
                <a:spcPts val="1500"/>
              </a:spcAft>
              <a:defRPr sz="1400">
                <a:solidFill>
                  <a:srgbClr val="595959"/>
                </a:solidFill>
              </a:defRPr>
            </a:pPr>
            <a:r>
              <a:t>   92 variables → sélection et recodage</a:t>
            </a:r>
          </a:p>
          <a:p>
            <a:pPr>
              <a:spcAft>
                <a:spcPts val="500"/>
              </a:spcAft>
              <a:defRPr sz="2000" b="1">
                <a:solidFill>
                  <a:srgbClr val="4472C4"/>
                </a:solidFill>
              </a:defRPr>
            </a:pPr>
            <a:r>
              <a:t>3. ÉTAPE 2 : ACM Exploratoire</a:t>
            </a:r>
          </a:p>
          <a:p>
            <a:pPr>
              <a:spcAft>
                <a:spcPts val="1500"/>
              </a:spcAft>
              <a:defRPr sz="1400">
                <a:solidFill>
                  <a:srgbClr val="595959"/>
                </a:solidFill>
              </a:defRPr>
            </a:pPr>
            <a:r>
              <a:t>   Dimensionnalité et choix des axes</a:t>
            </a:r>
          </a:p>
          <a:p>
            <a:pPr>
              <a:spcAft>
                <a:spcPts val="500"/>
              </a:spcAft>
              <a:defRPr sz="2000" b="1">
                <a:solidFill>
                  <a:srgbClr val="4472C4"/>
                </a:solidFill>
              </a:defRPr>
            </a:pPr>
            <a:r>
              <a:t>4. ÉTAPE 3 : ACM Finale</a:t>
            </a:r>
          </a:p>
          <a:p>
            <a:pPr>
              <a:spcAft>
                <a:spcPts val="1500"/>
              </a:spcAft>
              <a:defRPr sz="1400">
                <a:solidFill>
                  <a:srgbClr val="595959"/>
                </a:solidFill>
              </a:defRPr>
            </a:pPr>
            <a:r>
              <a:t>   Interprétation et tests statistiques</a:t>
            </a:r>
          </a:p>
          <a:p>
            <a:pPr>
              <a:spcAft>
                <a:spcPts val="500"/>
              </a:spcAft>
              <a:defRPr sz="2000" b="1">
                <a:solidFill>
                  <a:srgbClr val="4472C4"/>
                </a:solidFill>
              </a:defRPr>
            </a:pPr>
            <a:r>
              <a:t>5. ÉTAPE 4 : Classification</a:t>
            </a:r>
          </a:p>
          <a:p>
            <a:pPr>
              <a:spcAft>
                <a:spcPts val="1500"/>
              </a:spcAft>
              <a:defRPr sz="1400">
                <a:solidFill>
                  <a:srgbClr val="595959"/>
                </a:solidFill>
              </a:defRPr>
            </a:pPr>
            <a:r>
              <a:t>   Segmentation en 4 profils d'intégration</a:t>
            </a:r>
          </a:p>
          <a:p>
            <a:pPr>
              <a:spcAft>
                <a:spcPts val="500"/>
              </a:spcAft>
              <a:defRPr sz="2000" b="1">
                <a:solidFill>
                  <a:srgbClr val="4472C4"/>
                </a:solidFill>
              </a:defRPr>
            </a:pPr>
            <a:r>
              <a:t>6. RÉSULTATS CLÉS ET CONCLUSION</a:t>
            </a:r>
          </a:p>
          <a:p>
            <a:pPr>
              <a:spcAft>
                <a:spcPts val="1500"/>
              </a:spcAft>
              <a:defRPr sz="1400">
                <a:solidFill>
                  <a:srgbClr val="595959"/>
                </a:solidFill>
              </a:defRPr>
            </a:pPr>
            <a:r>
              <a:t>   Synthèse et recommandations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CONTEXTE DE L'ÉTUDE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7D31"/>
                </a:solidFill>
              </a:defRPr>
            </a:pPr>
            <a:r>
              <a:t>📊 DONNÉES</a:t>
            </a:r>
          </a:p>
          <a:p>
            <a:pPr>
              <a:spcAft>
                <a:spcPts val="800"/>
              </a:spcAft>
              <a:defRPr sz="1600">
                <a:solidFill>
                  <a:srgbClr val="595959"/>
                </a:solidFill>
              </a:defRPr>
            </a:pPr>
            <a:r>
              <a:t>• 625 étudiants (L1, L2, L3)</a:t>
            </a:r>
          </a:p>
          <a:p>
            <a:pPr>
              <a:spcAft>
                <a:spcPts val="800"/>
              </a:spcAft>
              <a:defRPr sz="1600">
                <a:solidFill>
                  <a:srgbClr val="595959"/>
                </a:solidFill>
              </a:defRPr>
            </a:pPr>
            <a:r>
              <a:t>• Baromètre ISEM 2017</a:t>
            </a:r>
          </a:p>
          <a:p>
            <a:pPr>
              <a:spcAft>
                <a:spcPts val="800"/>
              </a:spcAft>
              <a:defRPr sz="1600">
                <a:solidFill>
                  <a:srgbClr val="595959"/>
                </a:solidFill>
              </a:defRPr>
            </a:pPr>
            <a:r>
              <a:t>• 92 variables initiales</a:t>
            </a:r>
          </a:p>
          <a:p>
            <a:pPr>
              <a:spcAft>
                <a:spcPts val="800"/>
              </a:spcAft>
              <a:defRPr sz="1600">
                <a:solidFill>
                  <a:srgbClr val="595959"/>
                </a:solidFill>
              </a:defRPr>
            </a:pPr>
            <a:r>
              <a:t>• Variables qualitatives</a:t>
            </a:r>
          </a:p>
          <a:p>
            <a:pPr>
              <a:spcAft>
                <a:spcPts val="800"/>
              </a:spcAft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1500"/>
              </a:spcBef>
              <a:spcAft>
                <a:spcPts val="1000"/>
              </a:spcAft>
              <a:defRPr sz="1800" b="1">
                <a:solidFill>
                  <a:srgbClr val="ED7D31"/>
                </a:solidFill>
              </a:defRPr>
            </a:pPr>
            <a:r>
              <a:t>🎯 OBJECTIF</a:t>
            </a:r>
          </a:p>
          <a:p>
            <a:pPr>
              <a:spcAft>
                <a:spcPts val="800"/>
              </a:spcAft>
              <a:defRPr sz="1600">
                <a:solidFill>
                  <a:srgbClr val="595959"/>
                </a:solidFill>
              </a:defRPr>
            </a:pPr>
            <a:r>
              <a:t>Comprendre les facteurs</a:t>
            </a:r>
          </a:p>
          <a:p>
            <a:pPr>
              <a:spcAft>
                <a:spcPts val="800"/>
              </a:spcAft>
              <a:defRPr sz="1600">
                <a:solidFill>
                  <a:srgbClr val="595959"/>
                </a:solidFill>
              </a:defRPr>
            </a:pPr>
            <a:r>
              <a:t>d'intégration des étudiants</a:t>
            </a:r>
          </a:p>
          <a:p>
            <a:pPr>
              <a:spcAft>
                <a:spcPts val="800"/>
              </a:spcAft>
              <a:defRPr sz="1600">
                <a:solidFill>
                  <a:srgbClr val="595959"/>
                </a:solidFill>
              </a:defRPr>
            </a:pPr>
            <a:r>
              <a:t>et identifier des profils</a:t>
            </a:r>
          </a:p>
          <a:p>
            <a:pPr>
              <a:spcAft>
                <a:spcPts val="800"/>
              </a:spcAft>
              <a:defRPr sz="1600">
                <a:solidFill>
                  <a:srgbClr val="595959"/>
                </a:solidFill>
              </a:defRPr>
            </a:pPr>
            <a:r>
              <a:t>distincts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70AD47"/>
                </a:solidFill>
              </a:defRPr>
            </a:pPr>
            <a:r>
              <a:t>🔬 MÉTHODOLOGIE</a:t>
            </a:r>
          </a:p>
          <a:p>
            <a:pPr>
              <a:spcAft>
                <a:spcPts val="500"/>
              </a:spcAft>
              <a:defRPr sz="1600" b="1">
                <a:solidFill>
                  <a:srgbClr val="4472C4"/>
                </a:solidFill>
              </a:defRPr>
            </a:pPr>
            <a:r>
              <a:t>1️⃣ Nettoyage des données</a:t>
            </a:r>
          </a:p>
          <a:p>
            <a:pPr>
              <a:spcAft>
                <a:spcPts val="500"/>
              </a:spcAft>
              <a:defRPr sz="1400">
                <a:solidFill>
                  <a:srgbClr val="595959"/>
                </a:solidFill>
              </a:defRPr>
            </a:pPr>
            <a:r>
              <a:t>   Gestion valeurs manquantes</a:t>
            </a:r>
          </a:p>
          <a:p>
            <a:pPr>
              <a:spcAft>
                <a:spcPts val="500"/>
              </a:spcAft>
              <a:defRPr sz="1400">
                <a:solidFill>
                  <a:srgbClr val="595959"/>
                </a:solidFill>
              </a:defRPr>
            </a:pPr>
            <a:r>
              <a:t>   Recodage variables</a:t>
            </a:r>
          </a:p>
          <a:p>
            <a:pPr>
              <a:spcAft>
                <a:spcPts val="500"/>
              </a:spcAft>
              <a:defRPr sz="1400">
                <a:solidFill>
                  <a:srgbClr val="595959"/>
                </a:solidFill>
              </a:defRPr>
            </a:pPr>
          </a:p>
          <a:p>
            <a:pPr>
              <a:spcAft>
                <a:spcPts val="500"/>
              </a:spcAft>
              <a:defRPr sz="1600" b="1">
                <a:solidFill>
                  <a:srgbClr val="4472C4"/>
                </a:solidFill>
              </a:defRPr>
            </a:pPr>
            <a:r>
              <a:t>2️⃣ ACM Exploratoire</a:t>
            </a:r>
          </a:p>
          <a:p>
            <a:pPr>
              <a:spcAft>
                <a:spcPts val="500"/>
              </a:spcAft>
              <a:defRPr sz="1400">
                <a:solidFill>
                  <a:srgbClr val="595959"/>
                </a:solidFill>
              </a:defRPr>
            </a:pPr>
            <a:r>
              <a:t>   Réduction dimensionnalité</a:t>
            </a:r>
          </a:p>
          <a:p>
            <a:pPr>
              <a:spcAft>
                <a:spcPts val="500"/>
              </a:spcAft>
              <a:defRPr sz="1400">
                <a:solidFill>
                  <a:srgbClr val="595959"/>
                </a:solidFill>
              </a:defRPr>
            </a:pPr>
            <a:r>
              <a:t>   Sélection axes principaux</a:t>
            </a:r>
          </a:p>
          <a:p>
            <a:pPr>
              <a:spcAft>
                <a:spcPts val="500"/>
              </a:spcAft>
              <a:defRPr sz="1400">
                <a:solidFill>
                  <a:srgbClr val="595959"/>
                </a:solidFill>
              </a:defRPr>
            </a:pPr>
          </a:p>
          <a:p>
            <a:pPr>
              <a:spcAft>
                <a:spcPts val="500"/>
              </a:spcAft>
              <a:defRPr sz="1600" b="1">
                <a:solidFill>
                  <a:srgbClr val="4472C4"/>
                </a:solidFill>
              </a:defRPr>
            </a:pPr>
            <a:r>
              <a:t>3️⃣ ACM Finale</a:t>
            </a:r>
          </a:p>
          <a:p>
            <a:pPr>
              <a:spcAft>
                <a:spcPts val="500"/>
              </a:spcAft>
              <a:defRPr sz="1400">
                <a:solidFill>
                  <a:srgbClr val="595959"/>
                </a:solidFill>
              </a:defRPr>
            </a:pPr>
            <a:r>
              <a:t>   Interprétation plan factoriel</a:t>
            </a:r>
          </a:p>
          <a:p>
            <a:pPr>
              <a:spcAft>
                <a:spcPts val="500"/>
              </a:spcAft>
              <a:defRPr sz="1400">
                <a:solidFill>
                  <a:srgbClr val="595959"/>
                </a:solidFill>
              </a:defRPr>
            </a:pPr>
            <a:r>
              <a:t>   Tests Chi²</a:t>
            </a:r>
          </a:p>
          <a:p>
            <a:pPr>
              <a:spcAft>
                <a:spcPts val="500"/>
              </a:spcAft>
              <a:defRPr sz="1400">
                <a:solidFill>
                  <a:srgbClr val="595959"/>
                </a:solidFill>
              </a:defRPr>
            </a:pPr>
          </a:p>
          <a:p>
            <a:pPr>
              <a:spcAft>
                <a:spcPts val="500"/>
              </a:spcAft>
              <a:defRPr sz="1600" b="1">
                <a:solidFill>
                  <a:srgbClr val="4472C4"/>
                </a:solidFill>
              </a:defRPr>
            </a:pPr>
            <a:r>
              <a:t>4️⃣ Classification CAH</a:t>
            </a:r>
          </a:p>
          <a:p>
            <a:pPr>
              <a:spcAft>
                <a:spcPts val="500"/>
              </a:spcAft>
              <a:defRPr sz="1400">
                <a:solidFill>
                  <a:srgbClr val="595959"/>
                </a:solidFill>
              </a:defRPr>
            </a:pPr>
            <a:r>
              <a:t>   Segmentation 4 profils</a:t>
            </a:r>
          </a:p>
          <a:p>
            <a:pPr>
              <a:spcAft>
                <a:spcPts val="500"/>
              </a:spcAft>
              <a:defRPr sz="1400">
                <a:solidFill>
                  <a:srgbClr val="595959"/>
                </a:solidFill>
              </a:defRPr>
            </a:pPr>
            <a:r>
              <a:t>   Caractérisation groupes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D7D31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7040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EXPLORATION ET NETTOYAGE DES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4472C4"/>
                </a:solidFill>
              </a:defRPr>
            </a:pPr>
            <a:r>
              <a:t>🎯 OBJECTIF</a:t>
            </a:r>
          </a:p>
          <a:p>
            <a:pPr>
              <a:spcAft>
                <a:spcPts val="2000"/>
              </a:spcAft>
              <a:defRPr sz="1600">
                <a:solidFill>
                  <a:srgbClr val="595959"/>
                </a:solidFill>
              </a:defRPr>
            </a:pPr>
            <a:r>
              <a:t>Préparer des données propres et exploitables pour l'Analyse des Correspondances Multiples</a:t>
            </a:r>
          </a:p>
          <a:p>
            <a:pPr>
              <a:spcAft>
                <a:spcPts val="1000"/>
              </a:spcAft>
              <a:defRPr sz="2000" b="1">
                <a:solidFill>
                  <a:srgbClr val="4472C4"/>
                </a:solidFill>
              </a:defRPr>
            </a:pPr>
            <a:r>
              <a:t>⚙️ ACTIONS RÉALISÉES</a:t>
            </a:r>
          </a:p>
          <a:p>
            <a:pPr>
              <a:spcAft>
                <a:spcPts val="500"/>
              </a:spcAft>
              <a:defRPr sz="1600" b="1">
                <a:solidFill>
                  <a:srgbClr val="70AD47"/>
                </a:solidFill>
              </a:defRPr>
            </a:pPr>
            <a:r>
              <a:t>✓ Analyse des valeurs manquantes</a:t>
            </a:r>
          </a:p>
          <a:p>
            <a:pPr>
              <a:spcAft>
                <a:spcPts val="1200"/>
              </a:spcAft>
              <a:defRPr sz="1400">
                <a:solidFill>
                  <a:srgbClr val="595959"/>
                </a:solidFill>
              </a:defRPr>
            </a:pPr>
            <a:r>
              <a:t>   → Identification et traitement des données incomplètes</a:t>
            </a:r>
          </a:p>
          <a:p>
            <a:pPr>
              <a:spcAft>
                <a:spcPts val="500"/>
              </a:spcAft>
              <a:defRPr sz="1600" b="1">
                <a:solidFill>
                  <a:srgbClr val="70AD47"/>
                </a:solidFill>
              </a:defRPr>
            </a:pPr>
            <a:r>
              <a:t>✓ Recodage des variables</a:t>
            </a:r>
          </a:p>
          <a:p>
            <a:pPr>
              <a:spcAft>
                <a:spcPts val="1200"/>
              </a:spcAft>
              <a:defRPr sz="1400">
                <a:solidFill>
                  <a:srgbClr val="595959"/>
                </a:solidFill>
              </a:defRPr>
            </a:pPr>
            <a:r>
              <a:t>   → Regroupement des modalités (ex: âge → tranches d'âge)</a:t>
            </a:r>
          </a:p>
          <a:p>
            <a:pPr>
              <a:spcAft>
                <a:spcPts val="500"/>
              </a:spcAft>
              <a:defRPr sz="1600" b="1">
                <a:solidFill>
                  <a:srgbClr val="70AD47"/>
                </a:solidFill>
              </a:defRPr>
            </a:pPr>
            <a:r>
              <a:t>✓ Sélection des variables</a:t>
            </a:r>
          </a:p>
          <a:p>
            <a:pPr>
              <a:spcAft>
                <a:spcPts val="1200"/>
              </a:spcAft>
              <a:defRPr sz="1400">
                <a:solidFill>
                  <a:srgbClr val="595959"/>
                </a:solidFill>
              </a:defRPr>
            </a:pPr>
            <a:r>
              <a:t>   → 92 variables → ~15-20 variables pertinentes</a:t>
            </a:r>
          </a:p>
          <a:p>
            <a:pPr>
              <a:spcAft>
                <a:spcPts val="500"/>
              </a:spcAft>
              <a:defRPr sz="1600" b="1">
                <a:solidFill>
                  <a:srgbClr val="70AD47"/>
                </a:solidFill>
              </a:defRPr>
            </a:pPr>
            <a:r>
              <a:t>✓ Contrôle qualité</a:t>
            </a:r>
          </a:p>
          <a:p>
            <a:pPr>
              <a:spcAft>
                <a:spcPts val="1200"/>
              </a:spcAft>
              <a:defRPr sz="1400">
                <a:solidFill>
                  <a:srgbClr val="595959"/>
                </a:solidFill>
              </a:defRPr>
            </a:pPr>
            <a:r>
              <a:t>   → Vérification cohérence et distributions</a:t>
            </a:r>
          </a:p>
          <a:p>
            <a:pPr>
              <a:spcBef>
                <a:spcPts val="1500"/>
              </a:spcBef>
              <a:defRPr sz="1600" b="1">
                <a:solidFill>
                  <a:srgbClr val="ED7D31"/>
                </a:solidFill>
              </a:defRPr>
            </a:pPr>
            <a:r>
              <a:t>📊 RÉSULTAT : Données structurées prêtes pour l'analyse statistique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D7D31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7040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ACM EXPLORATOIRE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472C4"/>
                </a:solidFill>
              </a:defRPr>
            </a:pPr>
            <a:r>
              <a:t>🎯 OBJECTIF</a:t>
            </a:r>
          </a:p>
          <a:p>
            <a:pPr>
              <a:spcAft>
                <a:spcPts val="1500"/>
              </a:spcAft>
              <a:defRPr sz="1400">
                <a:solidFill>
                  <a:srgbClr val="595959"/>
                </a:solidFill>
              </a:defRPr>
            </a:pPr>
            <a:r>
              <a:t>Réduire la dimensionnalité et sélectionner les axes synthétiques</a:t>
            </a:r>
          </a:p>
          <a:p>
            <a:pPr>
              <a:spcAft>
                <a:spcPts val="800"/>
              </a:spcAft>
              <a:defRPr sz="1800" b="1">
                <a:solidFill>
                  <a:srgbClr val="4472C4"/>
                </a:solidFill>
              </a:defRPr>
            </a:pPr>
            <a:r>
              <a:t>📐 QU'EST-CE QU'UNE ACM ?</a:t>
            </a:r>
          </a:p>
          <a:p>
            <a:pPr>
              <a:spcAft>
                <a:spcPts val="1000"/>
              </a:spcAft>
              <a:defRPr sz="1400">
                <a:solidFill>
                  <a:srgbClr val="595959"/>
                </a:solidFill>
              </a:defRPr>
            </a:pPr>
            <a:r>
              <a:t>Analyse des Correspondances Multiples = ACP pour variables qualitatives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t>• Résume l'information de 15+ variables en 2-3 axes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t>• Identifie les associations entre modalités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t>• Permet visualisation 2D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46304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70AD47"/>
                </a:solidFill>
              </a:defRPr>
            </a:pPr>
            <a:r>
              <a:t>📊 RÉSULTATS INERTIES</a:t>
            </a:r>
          </a:p>
          <a:p>
            <a:pPr>
              <a:spcAft>
                <a:spcPts val="800"/>
              </a:spcAft>
              <a:defRPr sz="1600" b="1">
                <a:solidFill>
                  <a:srgbClr val="595959"/>
                </a:solidFill>
              </a:defRPr>
            </a:pPr>
            <a:r>
              <a:t>Axe 1: 75.82% ⭐⭐⭐</a:t>
            </a:r>
          </a:p>
          <a:p>
            <a:pPr>
              <a:spcAft>
                <a:spcPts val="800"/>
              </a:spcAft>
              <a:defRPr sz="1600" b="1">
                <a:solidFill>
                  <a:srgbClr val="ED7D31"/>
                </a:solidFill>
              </a:defRPr>
            </a:pPr>
            <a:r>
              <a:t>Axes 1+2: 86.37% ⭐⭐</a:t>
            </a:r>
          </a:p>
          <a:p>
            <a:pPr>
              <a:spcAft>
                <a:spcPts val="800"/>
              </a:spcAft>
              <a:defRPr sz="1600" b="1">
                <a:solidFill>
                  <a:srgbClr val="595959"/>
                </a:solidFill>
              </a:defRPr>
            </a:pPr>
            <a:r>
              <a:t>Axes 1+2+3: 93.54% ⭐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800"/>
              </a:spcAft>
              <a:defRPr sz="1800" b="1">
                <a:solidFill>
                  <a:srgbClr val="70AD47"/>
                </a:solidFill>
              </a:defRPr>
            </a:pPr>
            <a:r>
              <a:t>✅ DÉCISION</a:t>
            </a:r>
          </a:p>
          <a:p>
            <a:pPr>
              <a:spcAft>
                <a:spcPts val="1000"/>
              </a:spcAft>
              <a:defRPr sz="2000" b="1">
                <a:solidFill>
                  <a:srgbClr val="ED7D31"/>
                </a:solidFill>
              </a:defRPr>
            </a:pPr>
            <a:r>
              <a:t>Retenir 2 AXES</a:t>
            </a:r>
          </a:p>
          <a:p>
            <a:pPr>
              <a:spcAft>
                <a:spcPts val="500"/>
              </a:spcAft>
              <a:defRPr sz="1400" b="1">
                <a:solidFill>
                  <a:srgbClr val="595959"/>
                </a:solidFill>
              </a:defRPr>
            </a:pPr>
            <a:r>
              <a:t>Justification :</a:t>
            </a:r>
          </a:p>
          <a:p>
            <a:pPr>
              <a:spcAft>
                <a:spcPts val="500"/>
              </a:spcAft>
              <a:defRPr sz="1300">
                <a:solidFill>
                  <a:srgbClr val="595959"/>
                </a:solidFill>
              </a:defRPr>
            </a:pPr>
            <a:r>
              <a:t>• 86% de l'information conservée</a:t>
            </a:r>
          </a:p>
          <a:p>
            <a:pPr>
              <a:spcAft>
                <a:spcPts val="500"/>
              </a:spcAft>
              <a:defRPr sz="1300">
                <a:solidFill>
                  <a:srgbClr val="595959"/>
                </a:solidFill>
              </a:defRPr>
            </a:pPr>
            <a:r>
              <a:t>• Cassure nette dans l'éboulis</a:t>
            </a:r>
          </a:p>
          <a:p>
            <a:pPr>
              <a:spcAft>
                <a:spcPts val="500"/>
              </a:spcAft>
              <a:defRPr sz="1300">
                <a:solidFill>
                  <a:srgbClr val="595959"/>
                </a:solidFill>
              </a:defRPr>
            </a:pPr>
            <a:r>
              <a:t>• Lisibilité (plan 2D)</a:t>
            </a:r>
          </a:p>
          <a:p>
            <a:pPr>
              <a:spcAft>
                <a:spcPts val="500"/>
              </a:spcAft>
              <a:defRPr sz="1300">
                <a:solidFill>
                  <a:srgbClr val="595959"/>
                </a:solidFill>
              </a:defRPr>
            </a:pPr>
            <a:r>
              <a:t>• Gain faible si axe 3 (+7%)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D7D31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7040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ACM FINALE ET INTERPRÉTATION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4472C4"/>
                </a:solidFill>
              </a:defRPr>
            </a:pPr>
            <a:r>
              <a:t>🎯 OBJECTIF</a:t>
            </a:r>
          </a:p>
          <a:p>
            <a:pPr>
              <a:spcAft>
                <a:spcPts val="2000"/>
              </a:spcAft>
              <a:defRPr sz="1600">
                <a:solidFill>
                  <a:srgbClr val="595959"/>
                </a:solidFill>
              </a:defRPr>
            </a:pPr>
            <a:r>
              <a:t>Interpréter le plan factoriel et identifier les variables discriminantes</a:t>
            </a:r>
          </a:p>
          <a:p>
            <a:pPr>
              <a:spcAft>
                <a:spcPts val="1000"/>
              </a:spcAft>
              <a:defRPr sz="2000" b="1">
                <a:solidFill>
                  <a:srgbClr val="4472C4"/>
                </a:solidFill>
              </a:defRPr>
            </a:pPr>
            <a:r>
              <a:t>📊 ANALYSES RÉALISÉES</a:t>
            </a:r>
          </a:p>
          <a:p>
            <a:pPr>
              <a:spcAft>
                <a:spcPts val="1000"/>
              </a:spcAft>
              <a:defRPr sz="1500">
                <a:solidFill>
                  <a:srgbClr val="595959"/>
                </a:solidFill>
              </a:defRPr>
            </a:pPr>
            <a:r>
              <a:t>• Plan des modalités : Visualisation des catégories sur axes 1-2</a:t>
            </a:r>
          </a:p>
          <a:p>
            <a:pPr>
              <a:spcAft>
                <a:spcPts val="1000"/>
              </a:spcAft>
              <a:defRPr sz="1500">
                <a:solidFill>
                  <a:srgbClr val="595959"/>
                </a:solidFill>
              </a:defRPr>
            </a:pPr>
            <a:r>
              <a:t>• Plan des individus : Position de chaque étudiant (625 points)</a:t>
            </a:r>
          </a:p>
          <a:p>
            <a:pPr>
              <a:spcAft>
                <a:spcPts val="1000"/>
              </a:spcAft>
              <a:defRPr sz="1500">
                <a:solidFill>
                  <a:srgbClr val="595959"/>
                </a:solidFill>
              </a:defRPr>
            </a:pPr>
            <a:r>
              <a:t>• Matrice de corrélations : Liens entre variables</a:t>
            </a:r>
          </a:p>
          <a:p>
            <a:pPr>
              <a:spcAft>
                <a:spcPts val="1000"/>
              </a:spcAft>
              <a:defRPr sz="1500">
                <a:solidFill>
                  <a:srgbClr val="595959"/>
                </a:solidFill>
              </a:defRPr>
            </a:pPr>
            <a:r>
              <a:t>• Tests du Chi² : Significativité des associations avec l'intégration</a:t>
            </a:r>
          </a:p>
          <a:p>
            <a:pPr>
              <a:spcBef>
                <a:spcPts val="2000"/>
              </a:spcBef>
              <a:spcAft>
                <a:spcPts val="1500"/>
              </a:spcAft>
              <a:defRPr sz="2000" b="1">
                <a:solidFill>
                  <a:srgbClr val="C00000"/>
                </a:solidFill>
              </a:defRPr>
            </a:pPr>
            <a:r>
              <a:t>🔥 RÉSULTAT MAJEUR : TEST DU CHI²</a:t>
            </a:r>
          </a:p>
          <a:p>
            <a:pPr>
              <a:spcAft>
                <a:spcPts val="800"/>
              </a:spcAft>
              <a:defRPr sz="1600" b="1">
                <a:solidFill>
                  <a:srgbClr val="70AD47"/>
                </a:solidFill>
              </a:defRPr>
            </a:pPr>
            <a:r>
              <a:t>✅ SEXE : χ² = 14.76, p = 0.002 → SIGNIFICATIF (**)</a:t>
            </a:r>
          </a:p>
          <a:p>
            <a:pPr>
              <a:spcAft>
                <a:spcPts val="1500"/>
              </a:spcAft>
              <a:defRPr sz="1400">
                <a:solidFill>
                  <a:srgbClr val="595959"/>
                </a:solidFill>
              </a:defRPr>
            </a:pPr>
            <a:r>
              <a:t>   → Seul facteur discriminant statistiquement l'intégration</a:t>
            </a:r>
          </a:p>
          <a:p>
            <a:pPr>
              <a:spcAft>
                <a:spcPts val="800"/>
              </a:spcAft>
              <a:defRPr sz="1600" b="1">
                <a:solidFill>
                  <a:srgbClr val="C00000"/>
                </a:solidFill>
              </a:defRPr>
            </a:pPr>
            <a:r>
              <a:t>❌ Toutes les autres variables : p &gt; 0.05 → NON SIGNIFICATIF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t>   → Logement, âge, région, sport, niveau, parcours, etc.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ED7D31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457200"/>
            <a:ext cx="7040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CLASSIFICATION - 4 PROFILS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4472C4"/>
                </a:solidFill>
              </a:defRPr>
            </a:pPr>
            <a:r>
              <a:t>🎯 OBJECTIF</a:t>
            </a:r>
          </a:p>
          <a:p>
            <a:pPr>
              <a:spcAft>
                <a:spcPts val="1500"/>
              </a:spcAft>
              <a:defRPr sz="1400">
                <a:solidFill>
                  <a:srgbClr val="595959"/>
                </a:solidFill>
              </a:defRPr>
            </a:pPr>
            <a:r>
              <a:t>Créer des groupes homogènes d'étudiants selon leur profil d'intégration</a:t>
            </a:r>
          </a:p>
          <a:p>
            <a:pPr>
              <a:spcAft>
                <a:spcPts val="800"/>
              </a:spcAft>
              <a:defRPr sz="1800" b="1">
                <a:solidFill>
                  <a:srgbClr val="4472C4"/>
                </a:solidFill>
              </a:defRPr>
            </a:pPr>
            <a:r>
              <a:t>⚙️ MÉTHODOLOGIE</a:t>
            </a:r>
          </a:p>
          <a:p>
            <a:pPr>
              <a:spcAft>
                <a:spcPts val="800"/>
              </a:spcAft>
              <a:defRPr sz="1400">
                <a:solidFill>
                  <a:srgbClr val="595959"/>
                </a:solidFill>
              </a:defRPr>
            </a:pPr>
            <a:r>
              <a:t>1. Classification Ascendante Hiérarchique (CAH)</a:t>
            </a:r>
          </a:p>
          <a:p>
            <a:pPr>
              <a:spcAft>
                <a:spcPts val="800"/>
              </a:spcAft>
              <a:defRPr sz="1400">
                <a:solidFill>
                  <a:srgbClr val="595959"/>
                </a:solidFill>
              </a:defRPr>
            </a:pPr>
            <a:r>
              <a:t>2. Dendrogramme pour choix k</a:t>
            </a:r>
          </a:p>
          <a:p>
            <a:pPr>
              <a:spcAft>
                <a:spcPts val="800"/>
              </a:spcAft>
              <a:defRPr sz="1400">
                <a:solidFill>
                  <a:srgbClr val="595959"/>
                </a:solidFill>
              </a:defRPr>
            </a:pPr>
            <a:r>
              <a:t>3. Silhouette scores (qualité)</a:t>
            </a:r>
          </a:p>
          <a:p>
            <a:pPr>
              <a:spcAft>
                <a:spcPts val="800"/>
              </a:spcAft>
              <a:defRPr sz="1400">
                <a:solidFill>
                  <a:srgbClr val="595959"/>
                </a:solidFill>
              </a:defRPr>
            </a:pPr>
            <a:r>
              <a:t>4. Valeurs-tests (profiling)</a:t>
            </a:r>
          </a:p>
          <a:p>
            <a:pPr>
              <a:spcAft>
                <a:spcPts val="800"/>
              </a:spcAft>
              <a:defRPr sz="1400">
                <a:solidFill>
                  <a:srgbClr val="595959"/>
                </a:solidFill>
              </a:defRPr>
            </a:pPr>
            <a:r>
              <a:t>5. Arbre de décision explicatif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500"/>
              </a:spcAft>
              <a:defRPr sz="1600" b="1">
                <a:solidFill>
                  <a:srgbClr val="70AD47"/>
                </a:solidFill>
              </a:defRPr>
            </a:pPr>
            <a:r>
              <a:t>✅ CHOIX : k = 4 classes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Basé sur critères statistiques et interprétabilité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46304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70AD47"/>
                </a:solidFill>
              </a:defRPr>
            </a:pPr>
            <a:r>
              <a:t>📊 LES 4 PROFILS</a:t>
            </a:r>
          </a:p>
          <a:p>
            <a:pPr>
              <a:spcAft>
                <a:spcPts val="300"/>
              </a:spcAft>
              <a:defRPr sz="1300" b="1">
                <a:solidFill>
                  <a:srgbClr val="595959"/>
                </a:solidFill>
              </a:defRPr>
            </a:pPr>
            <a:r>
              <a:t>Classe 1</a:t>
            </a:r>
          </a:p>
          <a:p>
            <a:pPr>
              <a:spcAft>
                <a:spcPts val="300"/>
              </a:spcAft>
              <a:defRPr sz="1600" b="1">
                <a:solidFill>
                  <a:srgbClr val="C00000"/>
                </a:solidFill>
              </a:defRPr>
            </a:pPr>
            <a:r>
              <a:t>ISOLÉS</a:t>
            </a:r>
          </a:p>
          <a:p>
            <a:pPr>
              <a:spcAft>
                <a:spcPts val="1200"/>
              </a:spcAft>
              <a:defRPr sz="1300">
                <a:solidFill>
                  <a:srgbClr val="595959"/>
                </a:solidFill>
              </a:defRPr>
            </a:pPr>
            <a:r>
              <a:t>n = 78 (12.5%)</a:t>
            </a:r>
          </a:p>
          <a:p>
            <a:pPr>
              <a:spcAft>
                <a:spcPts val="300"/>
              </a:spcAft>
              <a:defRPr sz="1300" b="1">
                <a:solidFill>
                  <a:srgbClr val="595959"/>
                </a:solidFill>
              </a:defRPr>
            </a:pPr>
            <a:r>
              <a:t>Classe 2</a:t>
            </a:r>
          </a:p>
          <a:p>
            <a:pPr>
              <a:spcAft>
                <a:spcPts val="300"/>
              </a:spcAft>
              <a:defRPr sz="1600" b="1">
                <a:solidFill>
                  <a:srgbClr val="ED7D31"/>
                </a:solidFill>
              </a:defRPr>
            </a:pPr>
            <a:r>
              <a:t>PEU INTÉGRÉS</a:t>
            </a:r>
          </a:p>
          <a:p>
            <a:pPr>
              <a:spcAft>
                <a:spcPts val="1200"/>
              </a:spcAft>
              <a:defRPr sz="1300">
                <a:solidFill>
                  <a:srgbClr val="595959"/>
                </a:solidFill>
              </a:defRPr>
            </a:pPr>
            <a:r>
              <a:t>n = 425 (68.0%)</a:t>
            </a:r>
          </a:p>
          <a:p>
            <a:pPr>
              <a:spcAft>
                <a:spcPts val="300"/>
              </a:spcAft>
              <a:defRPr sz="1300" b="1">
                <a:solidFill>
                  <a:srgbClr val="595959"/>
                </a:solidFill>
              </a:defRPr>
            </a:pPr>
            <a:r>
              <a:t>Classe 3</a:t>
            </a:r>
          </a:p>
          <a:p>
            <a:pPr>
              <a:spcAft>
                <a:spcPts val="300"/>
              </a:spcAft>
              <a:defRPr sz="1600" b="1">
                <a:solidFill>
                  <a:srgbClr val="4472C4"/>
                </a:solidFill>
              </a:defRPr>
            </a:pPr>
            <a:r>
              <a:t>BIEN INTÉGRÉS</a:t>
            </a:r>
          </a:p>
          <a:p>
            <a:pPr>
              <a:spcAft>
                <a:spcPts val="1200"/>
              </a:spcAft>
              <a:defRPr sz="1300">
                <a:solidFill>
                  <a:srgbClr val="595959"/>
                </a:solidFill>
              </a:defRPr>
            </a:pPr>
            <a:r>
              <a:t>n = 65 (10.4%)</a:t>
            </a:r>
          </a:p>
          <a:p>
            <a:pPr>
              <a:spcAft>
                <a:spcPts val="300"/>
              </a:spcAft>
              <a:defRPr sz="1300" b="1">
                <a:solidFill>
                  <a:srgbClr val="595959"/>
                </a:solidFill>
              </a:defRPr>
            </a:pPr>
            <a:r>
              <a:t>Classe 4</a:t>
            </a:r>
          </a:p>
          <a:p>
            <a:pPr>
              <a:spcAft>
                <a:spcPts val="300"/>
              </a:spcAft>
              <a:defRPr sz="1600" b="1">
                <a:solidFill>
                  <a:srgbClr val="70AD47"/>
                </a:solidFill>
              </a:defRPr>
            </a:pPr>
            <a:r>
              <a:t>TRÈS INTÉGRÉS</a:t>
            </a:r>
          </a:p>
          <a:p>
            <a:pPr>
              <a:spcAft>
                <a:spcPts val="1200"/>
              </a:spcAft>
              <a:defRPr sz="1300">
                <a:solidFill>
                  <a:srgbClr val="595959"/>
                </a:solidFill>
              </a:defRPr>
            </a:pPr>
            <a:r>
              <a:t>n = 57 (9.1%)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800"/>
              </a:spcAft>
              <a:defRPr sz="1400" b="1">
                <a:solidFill>
                  <a:srgbClr val="ED7D31"/>
                </a:solidFill>
              </a:defRPr>
            </a:pPr>
            <a:r>
              <a:t>💡 À RETENIR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• 68% sont peu intégrés (profil majoritaire)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• 12.5% en difficulté (isolés)</a:t>
            </a:r>
          </a:p>
          <a:p>
            <a:pPr>
              <a:defRPr sz="1200">
                <a:solidFill>
                  <a:srgbClr val="595959"/>
                </a:solidFill>
              </a:defRPr>
            </a:pPr>
            <a:r>
              <a:t>• 19.5% bien/très intégrés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CARACTÉRISATION DES 4 PROFILS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2377440"/>
          </a:xfrm>
          <a:prstGeom prst="rect">
            <a:avLst/>
          </a:prstGeom>
          <a:solidFill>
            <a:srgbClr val="FFF0F0"/>
          </a:solid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00000"/>
                </a:solidFill>
              </a:defRPr>
            </a:pPr>
            <a:r>
              <a:t>CLASSE 1 - ISOLÉS (12.5%)</a:t>
            </a:r>
          </a:p>
          <a:p>
            <a:pPr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✓ Usage intensif campus (+16h loisirs)</a:t>
            </a:r>
          </a:p>
          <a:p>
            <a:pPr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✓ Membres associations</a:t>
            </a:r>
          </a:p>
          <a:p>
            <a:pPr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✓ Travaillent seuls</a:t>
            </a:r>
          </a:p>
          <a:p>
            <a:pPr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✗ Vie sociale limitée</a:t>
            </a:r>
          </a:p>
          <a:p>
            <a:pPr>
              <a:spcAft>
                <a:spcPts val="400"/>
              </a:spcAft>
              <a:defRPr sz="1100" b="1">
                <a:solidFill>
                  <a:srgbClr val="C00000"/>
                </a:solidFill>
              </a:defRPr>
            </a:pPr>
            <a:r>
              <a:t>→ Profil : investis académiquement</a:t>
            </a:r>
          </a:p>
          <a:p>
            <a:pPr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   mais isolés socialement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2377440"/>
          </a:xfrm>
          <a:prstGeom prst="rect">
            <a:avLst/>
          </a:prstGeom>
          <a:solidFill>
            <a:srgbClr val="FFF8E6"/>
          </a:solid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D7D31"/>
                </a:solidFill>
              </a:defRPr>
            </a:pPr>
            <a:r>
              <a:t>CLASSE 2 - PEU INTÉGRÉS (68%)</a:t>
            </a:r>
          </a:p>
          <a:p>
            <a:pPr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✓ Intégration moyenne</a:t>
            </a:r>
          </a:p>
          <a:p>
            <a:pPr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✓ Quelques liens sociaux</a:t>
            </a:r>
          </a:p>
          <a:p>
            <a:pPr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✓ Présence modérée campus</a:t>
            </a:r>
          </a:p>
          <a:p>
            <a:pPr>
              <a:spcAft>
                <a:spcPts val="400"/>
              </a:spcAft>
              <a:defRPr sz="1100" b="1">
                <a:solidFill>
                  <a:srgbClr val="ED7D31"/>
                </a:solidFill>
              </a:defRPr>
            </a:pPr>
            <a:r>
              <a:t>→ Profil : MAJORITAIRE</a:t>
            </a:r>
          </a:p>
          <a:p>
            <a:pPr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   Ni isolés ni hyper-intégrés</a:t>
            </a:r>
          </a:p>
          <a:p>
            <a:pPr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   Adaptation "standard"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4114800" cy="2377440"/>
          </a:xfrm>
          <a:prstGeom prst="rect">
            <a:avLst/>
          </a:prstGeom>
          <a:solidFill>
            <a:srgbClr val="E6F0FF"/>
          </a:solid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472C4"/>
                </a:solidFill>
              </a:defRPr>
            </a:pPr>
            <a:r>
              <a:t>CLASSE 3 - BIEN INTÉGRÉS (10.4%)</a:t>
            </a:r>
          </a:p>
          <a:p>
            <a:pPr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✓ Bonne participation sociale</a:t>
            </a:r>
          </a:p>
          <a:p>
            <a:pPr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✓ Réseau développé</a:t>
            </a:r>
          </a:p>
          <a:p>
            <a:pPr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✓ Équilibre études/social</a:t>
            </a:r>
          </a:p>
          <a:p>
            <a:pPr>
              <a:spcAft>
                <a:spcPts val="400"/>
              </a:spcAft>
              <a:defRPr sz="1100" b="1">
                <a:solidFill>
                  <a:srgbClr val="4472C4"/>
                </a:solidFill>
              </a:defRPr>
            </a:pPr>
            <a:r>
              <a:t>→ Profil : Adaptation réussie</a:t>
            </a:r>
          </a:p>
          <a:p>
            <a:pPr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   Intégration harmonieuse</a:t>
            </a:r>
          </a:p>
          <a:p>
            <a:pPr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   Liens solides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931920"/>
            <a:ext cx="3931920" cy="2377440"/>
          </a:xfrm>
          <a:prstGeom prst="rect">
            <a:avLst/>
          </a:prstGeom>
          <a:solidFill>
            <a:srgbClr val="F0FFF0"/>
          </a:solidFill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70AD47"/>
                </a:solidFill>
              </a:defRPr>
            </a:pPr>
            <a:r>
              <a:t>CLASSE 4 - TRÈS INTÉGRÉS (9.1%)</a:t>
            </a:r>
          </a:p>
          <a:p>
            <a:pPr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✓ Forte implication</a:t>
            </a:r>
          </a:p>
          <a:p>
            <a:pPr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✓ Leaders sociaux</a:t>
            </a:r>
          </a:p>
          <a:p>
            <a:pPr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✓ Nombreuses relations</a:t>
            </a:r>
          </a:p>
          <a:p>
            <a:pPr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✓ Actifs associations</a:t>
            </a:r>
          </a:p>
          <a:p>
            <a:pPr>
              <a:spcAft>
                <a:spcPts val="400"/>
              </a:spcAft>
              <a:defRPr sz="1100" b="1">
                <a:solidFill>
                  <a:srgbClr val="70AD47"/>
                </a:solidFill>
              </a:defRPr>
            </a:pPr>
            <a:r>
              <a:t>→ Profil : Hyper-actifs</a:t>
            </a:r>
          </a:p>
          <a:p>
            <a:pPr>
              <a:spcAft>
                <a:spcPts val="400"/>
              </a:spcAft>
              <a:defRPr sz="1100">
                <a:solidFill>
                  <a:srgbClr val="595959"/>
                </a:solidFill>
              </a:defRPr>
            </a:pPr>
            <a:r>
              <a:t>   Ambassadeurs de l'intégration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RÉSULTATS CLÉS ET ENSEIGNEMENTS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C00000"/>
                </a:solidFill>
              </a:defRPr>
            </a:pPr>
            <a:r>
              <a:t>🔥 RÉSULTAT SURPRENANT</a:t>
            </a:r>
          </a:p>
          <a:p>
            <a:pPr>
              <a:spcAft>
                <a:spcPts val="500"/>
              </a:spcAft>
              <a:defRPr sz="1800">
                <a:solidFill>
                  <a:srgbClr val="595959"/>
                </a:solidFill>
              </a:defRPr>
            </a:pPr>
            <a:r>
              <a:t>Seul le SEXE discrimine significativement l'intégration (p=0.002)</a:t>
            </a:r>
          </a:p>
          <a:p>
            <a:pPr>
              <a:spcAft>
                <a:spcPts val="2500"/>
              </a:spcAft>
              <a:defRPr sz="1600">
                <a:solidFill>
                  <a:srgbClr val="595959"/>
                </a:solidFill>
              </a:defRPr>
            </a:pPr>
            <a:r>
              <a:t>Les variables classiques (logement, âge, région, sport, niveau...) ne sont PAS significatives</a:t>
            </a:r>
          </a:p>
          <a:p>
            <a:pPr>
              <a:spcAft>
                <a:spcPts val="1000"/>
              </a:spcAft>
              <a:defRPr sz="2200" b="1">
                <a:solidFill>
                  <a:srgbClr val="70AD47"/>
                </a:solidFill>
              </a:defRPr>
            </a:pPr>
            <a:r>
              <a:t>✅ SEGMENTATION RÉUSSIE</a:t>
            </a:r>
          </a:p>
          <a:p>
            <a:pPr>
              <a:spcAft>
                <a:spcPts val="1000"/>
              </a:spcAft>
              <a:defRPr sz="1600">
                <a:solidFill>
                  <a:srgbClr val="595959"/>
                </a:solidFill>
              </a:defRPr>
            </a:pPr>
            <a:r>
              <a:t>• 4 profils distincts et interprétables</a:t>
            </a:r>
          </a:p>
          <a:p>
            <a:pPr>
              <a:spcAft>
                <a:spcPts val="1000"/>
              </a:spcAft>
              <a:defRPr sz="1600">
                <a:solidFill>
                  <a:srgbClr val="595959"/>
                </a:solidFill>
              </a:defRPr>
            </a:pPr>
            <a:r>
              <a:t>• Séparation basée sur comportements sociaux et usage campus</a:t>
            </a:r>
          </a:p>
          <a:p>
            <a:pPr>
              <a:spcAft>
                <a:spcPts val="1000"/>
              </a:spcAft>
              <a:defRPr sz="1600">
                <a:solidFill>
                  <a:srgbClr val="595959"/>
                </a:solidFill>
              </a:defRPr>
            </a:pPr>
            <a:r>
              <a:t>• Identification d'un groupe à risque (Isolés, 12.5%)</a:t>
            </a:r>
          </a:p>
          <a:p>
            <a:pPr>
              <a:spcAft>
                <a:spcPts val="1000"/>
              </a:spcAft>
              <a:defRPr sz="1600">
                <a:solidFill>
                  <a:srgbClr val="595959"/>
                </a:solidFill>
              </a:defRPr>
            </a:pPr>
            <a:r>
              <a:t>• Majorité en intégration moyenne (68%) → potentiel d'amélioration</a:t>
            </a:r>
          </a:p>
          <a:p>
            <a:pPr>
              <a:spcBef>
                <a:spcPts val="1500"/>
              </a:spcBef>
              <a:spcAft>
                <a:spcPts val="1000"/>
              </a:spcAft>
              <a:defRPr sz="2200" b="1">
                <a:solidFill>
                  <a:srgbClr val="ED7D31"/>
                </a:solidFill>
              </a:defRPr>
            </a:pPr>
            <a:r>
              <a:t>💡 IMPLICATIONS</a:t>
            </a:r>
          </a:p>
          <a:p>
            <a:pPr>
              <a:spcAft>
                <a:spcPts val="800"/>
              </a:spcAft>
              <a:defRPr sz="1500">
                <a:solidFill>
                  <a:srgbClr val="595959"/>
                </a:solidFill>
              </a:defRPr>
            </a:pPr>
            <a:r>
              <a:t>→ Nécessité d'actions ciblées pour les Isolés</a:t>
            </a:r>
          </a:p>
          <a:p>
            <a:pPr>
              <a:spcAft>
                <a:spcPts val="800"/>
              </a:spcAft>
              <a:defRPr sz="1500">
                <a:solidFill>
                  <a:srgbClr val="595959"/>
                </a:solidFill>
              </a:defRPr>
            </a:pPr>
            <a:r>
              <a:t>→ Potentiel d'amélioration pour 68% des étudiants</a:t>
            </a:r>
          </a:p>
          <a:p>
            <a:pPr>
              <a:spcAft>
                <a:spcPts val="800"/>
              </a:spcAft>
              <a:defRPr sz="1500">
                <a:solidFill>
                  <a:srgbClr val="595959"/>
                </a:solidFill>
              </a:defRPr>
            </a:pPr>
            <a:r>
              <a:t>→ Question du rôle du genre dans l'intégration à approfondir</a:t>
            </a:r>
          </a:p>
          <a:p>
            <a:pPr>
              <a:spcAft>
                <a:spcPts val="800"/>
              </a:spcAft>
              <a:defRPr sz="1500">
                <a:solidFill>
                  <a:srgbClr val="595959"/>
                </a:solidFill>
              </a:defRPr>
            </a:pPr>
            <a:r>
              <a:t>→ Variables comportementales &gt; variables sociodémographiques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RECOMMANDATIONS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D7D31"/>
                </a:solidFill>
              </a:defRPr>
            </a:pPr>
            <a:r>
              <a:t>🎯 ACTIONS PRIORITAIRES</a:t>
            </a:r>
          </a:p>
          <a:p>
            <a:pPr>
              <a:spcAft>
                <a:spcPts val="600"/>
              </a:spcAft>
              <a:defRPr sz="1500" b="1">
                <a:solidFill>
                  <a:srgbClr val="4472C4"/>
                </a:solidFill>
              </a:defRPr>
            </a:pPr>
            <a:r>
              <a:t>CLASSE 1 (Isolés)</a:t>
            </a:r>
          </a:p>
          <a:p>
            <a:pPr>
              <a:spcAft>
                <a:spcPts val="500"/>
              </a:spcAft>
              <a:defRPr sz="1300">
                <a:solidFill>
                  <a:srgbClr val="595959"/>
                </a:solidFill>
              </a:defRPr>
            </a:pPr>
            <a:r>
              <a:t>• Programme de parrainage</a:t>
            </a:r>
          </a:p>
          <a:p>
            <a:pPr>
              <a:spcAft>
                <a:spcPts val="500"/>
              </a:spcAft>
              <a:defRPr sz="1300">
                <a:solidFill>
                  <a:srgbClr val="595959"/>
                </a:solidFill>
              </a:defRPr>
            </a:pPr>
            <a:r>
              <a:t>• Groupes de travail guidés</a:t>
            </a:r>
          </a:p>
          <a:p>
            <a:pPr>
              <a:spcAft>
                <a:spcPts val="500"/>
              </a:spcAft>
              <a:defRPr sz="1300">
                <a:solidFill>
                  <a:srgbClr val="595959"/>
                </a:solidFill>
              </a:defRPr>
            </a:pPr>
            <a:r>
              <a:t>• Suivi individualisé</a:t>
            </a:r>
          </a:p>
          <a:p>
            <a:pPr>
              <a:spcAft>
                <a:spcPts val="500"/>
              </a:spcAft>
              <a:defRPr sz="1300">
                <a:solidFill>
                  <a:srgbClr val="595959"/>
                </a:solidFill>
              </a:defRPr>
            </a:pPr>
            <a:r>
              <a:t>• Événements sociaux ciblés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600"/>
              </a:spcAft>
              <a:defRPr sz="1500" b="1">
                <a:solidFill>
                  <a:srgbClr val="4472C4"/>
                </a:solidFill>
              </a:defRPr>
            </a:pPr>
            <a:r>
              <a:t>CLASSE 2 (Peu intégrés)</a:t>
            </a:r>
          </a:p>
          <a:p>
            <a:pPr>
              <a:spcAft>
                <a:spcPts val="500"/>
              </a:spcAft>
              <a:defRPr sz="1300">
                <a:solidFill>
                  <a:srgbClr val="595959"/>
                </a:solidFill>
              </a:defRPr>
            </a:pPr>
            <a:r>
              <a:t>• Activités collectives</a:t>
            </a:r>
          </a:p>
          <a:p>
            <a:pPr>
              <a:spcAft>
                <a:spcPts val="500"/>
              </a:spcAft>
              <a:defRPr sz="1300">
                <a:solidFill>
                  <a:srgbClr val="595959"/>
                </a:solidFill>
              </a:defRPr>
            </a:pPr>
            <a:r>
              <a:t>• Encourager associations</a:t>
            </a:r>
          </a:p>
          <a:p>
            <a:pPr>
              <a:spcAft>
                <a:spcPts val="500"/>
              </a:spcAft>
              <a:defRPr sz="1300">
                <a:solidFill>
                  <a:srgbClr val="595959"/>
                </a:solidFill>
              </a:defRPr>
            </a:pPr>
            <a:r>
              <a:t>• Espaces de socialisation</a:t>
            </a:r>
          </a:p>
          <a:p>
            <a:pPr>
              <a:spcAft>
                <a:spcPts val="80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754880" y="1463040"/>
            <a:ext cx="3931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70AD47"/>
                </a:solidFill>
              </a:defRPr>
            </a:pPr>
            <a:r>
              <a:t>🔬 APPROFONDISSEMENTS</a:t>
            </a:r>
          </a:p>
          <a:p>
            <a:pPr>
              <a:spcAft>
                <a:spcPts val="1000"/>
              </a:spcAft>
              <a:defRPr sz="1400">
                <a:solidFill>
                  <a:srgbClr val="595959"/>
                </a:solidFill>
              </a:defRPr>
            </a:pPr>
            <a:r>
              <a:t>• Étude qualitative pour comprendre le rôle du genre</a:t>
            </a:r>
          </a:p>
          <a:p>
            <a:pPr>
              <a:spcAft>
                <a:spcPts val="1000"/>
              </a:spcAft>
              <a:defRPr sz="1400">
                <a:solidFill>
                  <a:srgbClr val="595959"/>
                </a:solidFill>
              </a:defRPr>
            </a:pPr>
            <a:r>
              <a:t>• Suivi longitudinal (évolution des profils dans le temps)</a:t>
            </a:r>
          </a:p>
          <a:p>
            <a:pPr>
              <a:spcAft>
                <a:spcPts val="1000"/>
              </a:spcAft>
              <a:defRPr sz="1400">
                <a:solidFill>
                  <a:srgbClr val="595959"/>
                </a:solidFill>
              </a:defRPr>
            </a:pPr>
            <a:r>
              <a:t>• Analyse des réseaux sociaux</a:t>
            </a:r>
          </a:p>
          <a:p>
            <a:pPr>
              <a:spcAft>
                <a:spcPts val="1000"/>
              </a:spcAft>
              <a:defRPr sz="1400">
                <a:solidFill>
                  <a:srgbClr val="595959"/>
                </a:solidFill>
              </a:defRPr>
            </a:pPr>
            <a:r>
              <a:t>• Impact des dispositifs d'accompagnement</a:t>
            </a:r>
          </a:p>
          <a:p>
            <a:pPr>
              <a:spcAft>
                <a:spcPts val="1500"/>
              </a:spcAft>
            </a:pPr>
          </a:p>
          <a:p>
            <a:pPr>
              <a:spcAft>
                <a:spcPts val="1000"/>
              </a:spcAft>
              <a:defRPr sz="1800" b="1">
                <a:solidFill>
                  <a:srgbClr val="C00000"/>
                </a:solidFill>
              </a:defRPr>
            </a:pPr>
            <a:r>
              <a:t>📊 LIMITES DE L'ÉTUDE</a:t>
            </a:r>
          </a:p>
          <a:p>
            <a:pPr>
              <a:spcAft>
                <a:spcPts val="800"/>
              </a:spcAft>
              <a:defRPr sz="1300">
                <a:solidFill>
                  <a:srgbClr val="595959"/>
                </a:solidFill>
              </a:defRPr>
            </a:pPr>
            <a:r>
              <a:t>• Données transversales (pas de causalité)</a:t>
            </a:r>
          </a:p>
          <a:p>
            <a:pPr>
              <a:spcAft>
                <a:spcPts val="800"/>
              </a:spcAft>
              <a:defRPr sz="1300">
                <a:solidFill>
                  <a:srgbClr val="595959"/>
                </a:solidFill>
              </a:defRPr>
            </a:pPr>
            <a:r>
              <a:t>• Biais de déclaration possible</a:t>
            </a:r>
          </a:p>
          <a:p>
            <a:pPr>
              <a:spcAft>
                <a:spcPts val="800"/>
              </a:spcAft>
              <a:defRPr sz="1300">
                <a:solidFill>
                  <a:srgbClr val="595959"/>
                </a:solidFill>
              </a:defRPr>
            </a:pPr>
            <a:r>
              <a:t>• Variables peut-être mal mesurées</a:t>
            </a:r>
          </a:p>
          <a:p>
            <a:pPr>
              <a:spcAft>
                <a:spcPts val="800"/>
              </a:spcAft>
              <a:defRPr sz="1300">
                <a:solidFill>
                  <a:srgbClr val="595959"/>
                </a:solidFill>
              </a:defRPr>
            </a:pPr>
            <a:r>
              <a:t>• Nécessite validation qualitative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✓ Méthodologie rigoureuse en 4 étapes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✓ Segmentation claire en 4 profils d'intégration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✓ Identification d'un groupe à risque (12.5%)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✓ Résultat surprenant sur le rôle du sexe</a:t>
            </a:r>
          </a:p>
          <a:p>
            <a:pPr>
              <a:spcAft>
                <a:spcPts val="1500"/>
              </a:spcAft>
              <a:defRPr sz="2000">
                <a:solidFill>
                  <a:srgbClr val="FFFFFF"/>
                </a:solidFill>
              </a:defRPr>
            </a:pPr>
            <a:r>
              <a:t>✓ Base solide pour actions ciblées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C8C8C8"/>
                </a:solidFill>
              </a:defRPr>
            </a:pPr>
            <a:r>
              <a:t>Une analyse statistique complète au service de l'amélioration de l'intégration étudiante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Merci de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