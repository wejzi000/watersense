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64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83761" y="0"/>
            <a:ext cx="91440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9144000" cy="91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7330" y="1371600"/>
            <a:ext cx="7409336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</a:rPr>
              <a:t>ANALYSE DE L'INTÉGRATION</a:t>
            </a:r>
          </a:p>
          <a:p>
            <a:pPr algn="ctr"/>
            <a:r>
              <a:rPr sz="4800" b="1" dirty="0">
                <a:solidFill>
                  <a:schemeClr val="bg1"/>
                </a:solidFill>
              </a:rPr>
              <a:t>DES ÉTUDIANTS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39649" y="3200400"/>
            <a:ext cx="546470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rPr b="1" dirty="0"/>
              <a:t>Étude de </a:t>
            </a:r>
            <a:r>
              <a:rPr b="1" dirty="0" err="1"/>
              <a:t>cas</a:t>
            </a:r>
            <a:r>
              <a:rPr b="1" dirty="0"/>
              <a:t> - ACM et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5314" y="3721834"/>
            <a:ext cx="223336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CFF"/>
                </a:solidFill>
              </a:defRPr>
            </a:pPr>
            <a:r>
              <a:rPr dirty="0" err="1"/>
              <a:t>Baromètre</a:t>
            </a:r>
            <a:r>
              <a:rPr dirty="0"/>
              <a:t> ISEM 2017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29854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PLAN DE PRÉSENTATION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1645920"/>
            <a:ext cx="457200" cy="4572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457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45920"/>
            <a:ext cx="2764155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000" b="1">
                <a:solidFill>
                  <a:srgbClr val="595959"/>
                </a:solidFill>
              </a:defRPr>
            </a:pPr>
            <a:r>
              <a:rPr dirty="0"/>
              <a:t>CONTEXTE ET OBJECTIFS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377440"/>
            <a:ext cx="457200" cy="4572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457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77440"/>
            <a:ext cx="3956532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000" b="1">
                <a:solidFill>
                  <a:srgbClr val="595959"/>
                </a:solidFill>
              </a:defRPr>
            </a:pPr>
            <a:r>
              <a:rPr dirty="0"/>
              <a:t>ÉTAPE 1 : Exploration et </a:t>
            </a:r>
            <a:r>
              <a:rPr dirty="0" err="1"/>
              <a:t>Nettoyage</a:t>
            </a:r>
            <a:endParaRPr dirty="0"/>
          </a:p>
        </p:txBody>
      </p:sp>
      <p:sp>
        <p:nvSpPr>
          <p:cNvPr id="10" name="Oval 9"/>
          <p:cNvSpPr/>
          <p:nvPr/>
        </p:nvSpPr>
        <p:spPr>
          <a:xfrm>
            <a:off x="1097280" y="3108960"/>
            <a:ext cx="457200" cy="4572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457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108960"/>
            <a:ext cx="3073598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000" b="1">
                <a:solidFill>
                  <a:srgbClr val="595959"/>
                </a:solidFill>
              </a:defRPr>
            </a:pPr>
            <a:r>
              <a:rPr dirty="0"/>
              <a:t>ÉTAPE 2 : ACM </a:t>
            </a:r>
            <a:r>
              <a:rPr dirty="0" err="1"/>
              <a:t>Exploratoire</a:t>
            </a:r>
            <a:endParaRPr dirty="0"/>
          </a:p>
        </p:txBody>
      </p:sp>
      <p:sp>
        <p:nvSpPr>
          <p:cNvPr id="13" name="Oval 12"/>
          <p:cNvSpPr/>
          <p:nvPr/>
        </p:nvSpPr>
        <p:spPr>
          <a:xfrm>
            <a:off x="1097280" y="3840480"/>
            <a:ext cx="457200" cy="4572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840480"/>
            <a:ext cx="457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840480"/>
            <a:ext cx="2413738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000" b="1">
                <a:solidFill>
                  <a:srgbClr val="595959"/>
                </a:solidFill>
              </a:defRPr>
            </a:pPr>
            <a:r>
              <a:rPr dirty="0"/>
              <a:t>ÉTAPE 3 : ACM Finale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572000"/>
            <a:ext cx="457200" cy="4572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572000"/>
            <a:ext cx="457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572000"/>
            <a:ext cx="2624436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000" b="1">
                <a:solidFill>
                  <a:srgbClr val="595959"/>
                </a:solidFill>
              </a:defRPr>
            </a:pPr>
            <a:r>
              <a:rPr dirty="0"/>
              <a:t>ÉTAPE 4 : Classification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5303520"/>
            <a:ext cx="457200" cy="45720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5303520"/>
            <a:ext cx="457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303520"/>
            <a:ext cx="3100144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000" b="1">
                <a:solidFill>
                  <a:srgbClr val="595959"/>
                </a:solidFill>
              </a:defRPr>
            </a:pPr>
            <a:r>
              <a:rPr dirty="0"/>
              <a:t>RÉSULTATS ET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11862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 CONTEXTE DE L'ÉTUDE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22860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291840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F4E79"/>
                </a:solidFill>
              </a:defRPr>
            </a:pPr>
            <a:r>
              <a:rPr dirty="0"/>
              <a:t> DONNÉES</a:t>
            </a:r>
          </a:p>
          <a:p>
            <a:pPr>
              <a:spcAft>
                <a:spcPts val="800"/>
              </a:spcAft>
              <a:defRPr sz="1600">
                <a:solidFill>
                  <a:srgbClr val="595959"/>
                </a:solidFill>
              </a:defRPr>
            </a:pPr>
            <a:r>
              <a:rPr dirty="0"/>
              <a:t>• 625 </a:t>
            </a:r>
            <a:r>
              <a:rPr dirty="0" err="1"/>
              <a:t>étudiants</a:t>
            </a:r>
            <a:r>
              <a:rPr dirty="0"/>
              <a:t> (L1, L2, L3)</a:t>
            </a:r>
          </a:p>
          <a:p>
            <a:pPr>
              <a:spcAft>
                <a:spcPts val="800"/>
              </a:spcAft>
              <a:defRPr sz="1600">
                <a:solidFill>
                  <a:srgbClr val="595959"/>
                </a:solidFill>
              </a:defRPr>
            </a:pPr>
            <a:r>
              <a:rPr dirty="0"/>
              <a:t>• </a:t>
            </a:r>
            <a:r>
              <a:rPr dirty="0" err="1"/>
              <a:t>Baromètre</a:t>
            </a:r>
            <a:r>
              <a:rPr dirty="0"/>
              <a:t> ISEM 2017</a:t>
            </a:r>
          </a:p>
          <a:p>
            <a:pPr>
              <a:spcAft>
                <a:spcPts val="800"/>
              </a:spcAft>
              <a:defRPr sz="1600">
                <a:solidFill>
                  <a:srgbClr val="595959"/>
                </a:solidFill>
              </a:defRPr>
            </a:pPr>
            <a:r>
              <a:rPr dirty="0"/>
              <a:t>• 92 variables </a:t>
            </a:r>
            <a:r>
              <a:rPr dirty="0" err="1"/>
              <a:t>initiales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595959"/>
                </a:solidFill>
              </a:defRPr>
            </a:pPr>
            <a:r>
              <a:rPr dirty="0"/>
              <a:t>• Variables </a:t>
            </a:r>
            <a:r>
              <a:rPr dirty="0" err="1"/>
              <a:t>qualitatives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572000" y="1371600"/>
            <a:ext cx="3657600" cy="2286000"/>
          </a:xfrm>
          <a:prstGeom prst="roundRect">
            <a:avLst/>
          </a:prstGeom>
          <a:solidFill>
            <a:srgbClr val="FFFAF0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3291840" cy="1462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D7D31"/>
                </a:solidFill>
              </a:defRPr>
            </a:pPr>
            <a:r>
              <a:rPr dirty="0"/>
              <a:t>OBJECTIF</a:t>
            </a:r>
          </a:p>
          <a:p>
            <a:pPr>
              <a:lnSpc>
                <a:spcPct val="130000"/>
              </a:lnSpc>
              <a:defRPr sz="1600">
                <a:solidFill>
                  <a:srgbClr val="595959"/>
                </a:solidFill>
              </a:defRPr>
            </a:pPr>
            <a:r>
              <a:rPr dirty="0" err="1"/>
              <a:t>Comprendre</a:t>
            </a:r>
            <a:r>
              <a:rPr dirty="0"/>
              <a:t> les </a:t>
            </a:r>
            <a:r>
              <a:rPr dirty="0" err="1"/>
              <a:t>facteurs</a:t>
            </a:r>
            <a:r>
              <a:rPr dirty="0"/>
              <a:t> </a:t>
            </a:r>
            <a:r>
              <a:rPr dirty="0" err="1"/>
              <a:t>d'intégration</a:t>
            </a:r>
            <a:r>
              <a:rPr dirty="0"/>
              <a:t> des </a:t>
            </a:r>
            <a:r>
              <a:rPr dirty="0" err="1"/>
              <a:t>étudiants</a:t>
            </a:r>
            <a:r>
              <a:rPr dirty="0"/>
              <a:t> et identifier des </a:t>
            </a:r>
            <a:r>
              <a:rPr dirty="0" err="1"/>
              <a:t>profils</a:t>
            </a:r>
            <a:r>
              <a:rPr dirty="0"/>
              <a:t> </a:t>
            </a:r>
            <a:r>
              <a:rPr dirty="0" err="1"/>
              <a:t>distincts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7772400" cy="137160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7406640" cy="1020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70AD47"/>
                </a:solidFill>
              </a:defRPr>
            </a:pPr>
            <a:r>
              <a:rPr dirty="0"/>
              <a:t>MÉTHODOLOGIE EN 4 ÉTAPES</a:t>
            </a:r>
          </a:p>
          <a:p>
            <a:pPr>
              <a:defRPr sz="1600">
                <a:solidFill>
                  <a:srgbClr val="595959"/>
                </a:solidFill>
              </a:defRPr>
            </a:pPr>
            <a:r>
              <a:rPr lang="fr-FR" dirty="0"/>
              <a:t>1-</a:t>
            </a:r>
            <a:r>
              <a:rPr dirty="0"/>
              <a:t> </a:t>
            </a:r>
            <a:r>
              <a:rPr dirty="0" err="1"/>
              <a:t>Nettoyage</a:t>
            </a:r>
            <a:r>
              <a:rPr dirty="0"/>
              <a:t> des données → </a:t>
            </a:r>
            <a:r>
              <a:rPr lang="fr-FR" dirty="0"/>
              <a:t>2- </a:t>
            </a:r>
            <a:r>
              <a:rPr dirty="0"/>
              <a:t>ACM </a:t>
            </a:r>
            <a:r>
              <a:rPr dirty="0" err="1"/>
              <a:t>Exploratoire</a:t>
            </a:r>
            <a:r>
              <a:rPr dirty="0"/>
              <a:t> → </a:t>
            </a:r>
            <a:r>
              <a:rPr lang="fr-FR" dirty="0"/>
              <a:t>3-</a:t>
            </a:r>
            <a:r>
              <a:rPr dirty="0"/>
              <a:t> ACM Finale &amp; Tests → </a:t>
            </a:r>
            <a:endParaRPr lang="fr-FR" dirty="0"/>
          </a:p>
          <a:p>
            <a:pPr>
              <a:defRPr sz="1600">
                <a:solidFill>
                  <a:srgbClr val="595959"/>
                </a:solidFill>
              </a:defRPr>
            </a:pPr>
            <a:r>
              <a:rPr lang="fr-FR" dirty="0"/>
              <a:t>4-</a:t>
            </a:r>
            <a:r>
              <a:rPr dirty="0"/>
              <a:t> Classification CAH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548640" cy="5486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2860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EXPLORATION ET NETTOYAGE DES DONNÉES</a:t>
            </a:r>
          </a:p>
        </p:txBody>
      </p:sp>
      <p:pic>
        <p:nvPicPr>
          <p:cNvPr id="6" name="Picture 5" descr="1_valeurs_manqu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64" y="1097280"/>
            <a:ext cx="3011936" cy="2000642"/>
          </a:xfrm>
          <a:prstGeom prst="rect">
            <a:avLst/>
          </a:prstGeom>
        </p:spPr>
      </p:pic>
      <p:pic>
        <p:nvPicPr>
          <p:cNvPr id="7" name="Picture 6" descr="2_nb_modali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097280"/>
            <a:ext cx="2743200" cy="1955666"/>
          </a:xfrm>
          <a:prstGeom prst="rect">
            <a:avLst/>
          </a:prstGeom>
        </p:spPr>
      </p:pic>
      <p:pic>
        <p:nvPicPr>
          <p:cNvPr id="8" name="Picture 7" descr="3_selection_variab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097280"/>
            <a:ext cx="2377440" cy="25866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572000"/>
            <a:ext cx="82296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4E79"/>
                </a:solidFill>
              </a:defRPr>
            </a:pPr>
            <a:r>
              <a:rPr dirty="0"/>
              <a:t> Actions </a:t>
            </a:r>
            <a:r>
              <a:rPr dirty="0" err="1"/>
              <a:t>réalisées</a:t>
            </a:r>
            <a:r>
              <a:rPr dirty="0"/>
              <a:t> :</a:t>
            </a:r>
          </a:p>
          <a:p>
            <a:pPr>
              <a:spcAft>
                <a:spcPts val="500"/>
              </a:spcAft>
              <a:defRPr sz="1500">
                <a:solidFill>
                  <a:srgbClr val="595959"/>
                </a:solidFill>
              </a:defRPr>
            </a:pPr>
            <a:r>
              <a:rPr dirty="0"/>
              <a:t>✓ </a:t>
            </a:r>
            <a:r>
              <a:rPr dirty="0" err="1"/>
              <a:t>Analyse</a:t>
            </a:r>
            <a:r>
              <a:rPr dirty="0"/>
              <a:t> des </a:t>
            </a:r>
            <a:r>
              <a:rPr dirty="0" err="1"/>
              <a:t>valeurs</a:t>
            </a:r>
            <a:r>
              <a:rPr dirty="0"/>
              <a:t> </a:t>
            </a:r>
            <a:r>
              <a:rPr dirty="0" err="1"/>
              <a:t>manquantes</a:t>
            </a:r>
            <a:r>
              <a:rPr dirty="0"/>
              <a:t> et </a:t>
            </a:r>
            <a:r>
              <a:rPr dirty="0" err="1"/>
              <a:t>traitement</a:t>
            </a:r>
            <a:endParaRPr dirty="0"/>
          </a:p>
          <a:p>
            <a:pPr>
              <a:spcAft>
                <a:spcPts val="500"/>
              </a:spcAft>
              <a:defRPr sz="1500">
                <a:solidFill>
                  <a:srgbClr val="595959"/>
                </a:solidFill>
              </a:defRPr>
            </a:pPr>
            <a:r>
              <a:rPr dirty="0"/>
              <a:t>✓ </a:t>
            </a:r>
            <a:r>
              <a:rPr dirty="0" err="1"/>
              <a:t>Recodage</a:t>
            </a:r>
            <a:r>
              <a:rPr dirty="0"/>
              <a:t> des variables (92 → ~15-20 variables </a:t>
            </a:r>
            <a:r>
              <a:rPr dirty="0" err="1"/>
              <a:t>pertinentes</a:t>
            </a:r>
            <a:r>
              <a:rPr dirty="0"/>
              <a:t>)</a:t>
            </a:r>
          </a:p>
          <a:p>
            <a:pPr>
              <a:spcAft>
                <a:spcPts val="500"/>
              </a:spcAft>
              <a:defRPr sz="1500">
                <a:solidFill>
                  <a:srgbClr val="595959"/>
                </a:solidFill>
              </a:defRPr>
            </a:pPr>
            <a:r>
              <a:rPr dirty="0"/>
              <a:t>✓ </a:t>
            </a:r>
            <a:r>
              <a:rPr dirty="0" err="1"/>
              <a:t>Contrôle</a:t>
            </a:r>
            <a:r>
              <a:rPr dirty="0"/>
              <a:t> </a:t>
            </a:r>
            <a:r>
              <a:rPr dirty="0" err="1"/>
              <a:t>qualité</a:t>
            </a:r>
            <a:r>
              <a:rPr dirty="0"/>
              <a:t> et validation des distributions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548640" cy="5486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2860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ACM EXPLORATOIRE - Choix des axes</a:t>
            </a:r>
          </a:p>
        </p:txBody>
      </p:sp>
      <p:pic>
        <p:nvPicPr>
          <p:cNvPr id="6" name="Picture 5" descr="eboulis_valeurs_prop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029200" cy="299381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16037" y="1097280"/>
            <a:ext cx="3017520" cy="3200400"/>
          </a:xfrm>
          <a:prstGeom prst="roundRect">
            <a:avLst/>
          </a:prstGeom>
          <a:solidFill>
            <a:srgbClr val="FFFAF0"/>
          </a:solidFill>
          <a:ln w="381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4892" y="5011750"/>
            <a:ext cx="8229600" cy="668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595959"/>
                </a:solidFill>
              </a:defRPr>
            </a:pPr>
            <a:r>
              <a:rPr dirty="0"/>
              <a:t>Avec 2 axes, on conserve 86% de </a:t>
            </a:r>
            <a:r>
              <a:rPr dirty="0" err="1"/>
              <a:t>l'information</a:t>
            </a:r>
            <a:r>
              <a:rPr dirty="0"/>
              <a:t>. </a:t>
            </a:r>
            <a:endParaRPr lang="fr-FR" dirty="0"/>
          </a:p>
          <a:p>
            <a:pPr>
              <a:lnSpc>
                <a:spcPct val="130000"/>
              </a:lnSpc>
              <a:defRPr sz="1500">
                <a:solidFill>
                  <a:srgbClr val="595959"/>
                </a:solidFill>
              </a:defRPr>
            </a:pPr>
            <a:r>
              <a:rPr dirty="0"/>
              <a:t>La </a:t>
            </a:r>
            <a:r>
              <a:rPr dirty="0" err="1"/>
              <a:t>cassure</a:t>
            </a:r>
            <a:r>
              <a:rPr dirty="0"/>
              <a:t> </a:t>
            </a:r>
            <a:r>
              <a:rPr dirty="0" err="1"/>
              <a:t>nette</a:t>
            </a:r>
            <a:r>
              <a:rPr dirty="0"/>
              <a:t> dans </a:t>
            </a:r>
            <a:r>
              <a:rPr dirty="0" err="1"/>
              <a:t>l'éboulis</a:t>
            </a:r>
            <a:r>
              <a:rPr dirty="0"/>
              <a:t> </a:t>
            </a:r>
            <a:r>
              <a:rPr dirty="0" err="1"/>
              <a:t>confirme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choix optimal.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A4A6AD06-DDE7-0D85-C195-82D6CD2BBFB8}"/>
              </a:ext>
            </a:extLst>
          </p:cNvPr>
          <p:cNvSpPr txBox="1"/>
          <p:nvPr/>
        </p:nvSpPr>
        <p:spPr>
          <a:xfrm>
            <a:off x="5925102" y="1609878"/>
            <a:ext cx="2799390" cy="2291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defRPr sz="2000" b="1">
                <a:solidFill>
                  <a:srgbClr val="ED7D31"/>
                </a:solidFill>
              </a:defRPr>
            </a:pPr>
            <a:r>
              <a:rPr lang="fr-FR" dirty="0"/>
              <a:t>INERTIES</a:t>
            </a:r>
          </a:p>
          <a:p>
            <a:pPr>
              <a:spcAft>
                <a:spcPts val="300"/>
              </a:spcAft>
              <a:defRPr sz="1600" b="1">
                <a:solidFill>
                  <a:srgbClr val="595959"/>
                </a:solidFill>
              </a:defRPr>
            </a:pPr>
            <a:r>
              <a:rPr lang="fr-FR" dirty="0"/>
              <a:t>Axe 1: 75,82%</a:t>
            </a:r>
          </a:p>
          <a:p>
            <a:pPr>
              <a:spcAft>
                <a:spcPts val="300"/>
              </a:spcAft>
              <a:defRPr sz="1600" b="1">
                <a:solidFill>
                  <a:srgbClr val="595959"/>
                </a:solidFill>
              </a:defRPr>
            </a:pPr>
            <a:r>
              <a:rPr lang="fr-FR" dirty="0"/>
              <a:t>Axes 1+2 : 86,37% </a:t>
            </a:r>
          </a:p>
          <a:p>
            <a:pPr>
              <a:spcAft>
                <a:spcPts val="300"/>
              </a:spcAft>
              <a:defRPr sz="1600" b="1">
                <a:solidFill>
                  <a:srgbClr val="595959"/>
                </a:solidFill>
              </a:defRPr>
            </a:pPr>
            <a:endParaRPr lang="fr-FR" dirty="0"/>
          </a:p>
          <a:p>
            <a:pPr>
              <a:spcAft>
                <a:spcPts val="300"/>
              </a:spcAft>
              <a:defRPr sz="1600" b="1">
                <a:solidFill>
                  <a:srgbClr val="595959"/>
                </a:solidFill>
              </a:defRPr>
            </a:pPr>
            <a:r>
              <a:rPr lang="fr-FR" u="sng" dirty="0"/>
              <a:t>DECISION : </a:t>
            </a:r>
            <a:r>
              <a:rPr lang="fr-FR" dirty="0"/>
              <a:t>RETENIR LES </a:t>
            </a:r>
          </a:p>
          <a:p>
            <a:pPr>
              <a:spcAft>
                <a:spcPts val="300"/>
              </a:spcAft>
              <a:defRPr sz="1600" b="1">
                <a:solidFill>
                  <a:srgbClr val="595959"/>
                </a:solidFill>
              </a:defRPr>
            </a:pPr>
            <a:r>
              <a:rPr lang="fr-FR" dirty="0"/>
              <a:t>DEUX AXES</a:t>
            </a:r>
          </a:p>
          <a:p>
            <a:pPr>
              <a:lnSpc>
                <a:spcPct val="130000"/>
              </a:lnSpc>
              <a:defRPr sz="1500">
                <a:solidFill>
                  <a:srgbClr val="595959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548640" cy="5486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2860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ACM FINALE - Plans factoriels</a:t>
            </a:r>
          </a:p>
        </p:txBody>
      </p:sp>
      <p:pic>
        <p:nvPicPr>
          <p:cNvPr id="6" name="Picture 5" descr="plan_modalites_axes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39" y="1097280"/>
            <a:ext cx="4627841" cy="3296088"/>
          </a:xfrm>
          <a:prstGeom prst="rect">
            <a:avLst/>
          </a:prstGeom>
        </p:spPr>
      </p:pic>
      <p:pic>
        <p:nvPicPr>
          <p:cNvPr id="7" name="Picture 6" descr="plan_avec_variable_ci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97280"/>
            <a:ext cx="3931920" cy="32710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3891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4E79"/>
                </a:solidFill>
              </a:defRPr>
            </a:pPr>
            <a:r>
              <a:t>Plan des modalités (catégories des variables)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43891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4E79"/>
                </a:solidFill>
              </a:defRPr>
            </a:pPr>
            <a:r>
              <a:rPr dirty="0"/>
              <a:t>Plan avec variable </a:t>
            </a:r>
            <a:r>
              <a:rPr dirty="0" err="1"/>
              <a:t>cible</a:t>
            </a:r>
            <a:r>
              <a:rPr dirty="0"/>
              <a:t> (</a:t>
            </a:r>
            <a:r>
              <a:rPr dirty="0" err="1"/>
              <a:t>intégration</a:t>
            </a:r>
            <a:r>
              <a:rPr dirty="0"/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" y="5029200"/>
            <a:ext cx="8229600" cy="629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595959"/>
                </a:solidFill>
              </a:defRPr>
            </a:pPr>
            <a:r>
              <a:rPr dirty="0"/>
              <a:t>Les </a:t>
            </a:r>
            <a:r>
              <a:rPr dirty="0" err="1"/>
              <a:t>modalités</a:t>
            </a:r>
            <a:r>
              <a:rPr dirty="0"/>
              <a:t> </a:t>
            </a:r>
            <a:r>
              <a:rPr dirty="0" err="1"/>
              <a:t>proches</a:t>
            </a:r>
            <a:r>
              <a:rPr dirty="0"/>
              <a:t> </a:t>
            </a:r>
            <a:r>
              <a:rPr dirty="0" err="1"/>
              <a:t>ont</a:t>
            </a:r>
            <a:r>
              <a:rPr dirty="0"/>
              <a:t> des </a:t>
            </a:r>
            <a:r>
              <a:rPr dirty="0" err="1"/>
              <a:t>profils</a:t>
            </a:r>
            <a:r>
              <a:rPr dirty="0"/>
              <a:t> </a:t>
            </a:r>
            <a:r>
              <a:rPr dirty="0" err="1"/>
              <a:t>similaires</a:t>
            </a:r>
            <a:r>
              <a:rPr dirty="0"/>
              <a:t>. </a:t>
            </a:r>
            <a:endParaRPr lang="fr-FR" dirty="0"/>
          </a:p>
          <a:p>
            <a:pPr>
              <a:lnSpc>
                <a:spcPct val="130000"/>
              </a:lnSpc>
              <a:defRPr sz="1400">
                <a:solidFill>
                  <a:srgbClr val="595959"/>
                </a:solidFill>
              </a:defRPr>
            </a:pPr>
            <a:r>
              <a:rPr dirty="0"/>
              <a:t>Les </a:t>
            </a:r>
            <a:r>
              <a:rPr dirty="0" err="1"/>
              <a:t>individus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positionnés</a:t>
            </a:r>
            <a:r>
              <a:rPr dirty="0"/>
              <a:t> </a:t>
            </a:r>
            <a:r>
              <a:rPr dirty="0" err="1"/>
              <a:t>selon</a:t>
            </a:r>
            <a:r>
              <a:rPr dirty="0"/>
              <a:t> </a:t>
            </a:r>
            <a:r>
              <a:rPr dirty="0" err="1"/>
              <a:t>leurs</a:t>
            </a:r>
            <a:r>
              <a:rPr dirty="0"/>
              <a:t> </a:t>
            </a:r>
            <a:r>
              <a:rPr dirty="0" err="1"/>
              <a:t>caractéristiques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97323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 RÉSULTAT MAJEUR : TEST DU CHI²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7315200" cy="1828800"/>
          </a:xfrm>
          <a:prstGeom prst="roundRect">
            <a:avLst/>
          </a:prstGeom>
          <a:solidFill>
            <a:srgbClr val="F0FFF0"/>
          </a:solidFill>
          <a:ln w="508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6766560" cy="86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600" b="1">
                <a:solidFill>
                  <a:srgbClr val="70AD47"/>
                </a:solidFill>
              </a:defRPr>
            </a:pPr>
            <a:r>
              <a:rPr sz="2400" dirty="0"/>
              <a:t> SEXE : χ² = 14.76, p = 0.002 (**)  →  SIGNIFICATIF</a:t>
            </a:r>
          </a:p>
          <a:p>
            <a:pPr algn="ctr">
              <a:defRPr sz="1800">
                <a:solidFill>
                  <a:srgbClr val="595959"/>
                </a:solidFill>
              </a:defRPr>
            </a:pPr>
            <a:r>
              <a:rPr dirty="0"/>
              <a:t>Seul </a:t>
            </a:r>
            <a:r>
              <a:rPr dirty="0" err="1"/>
              <a:t>facteur</a:t>
            </a:r>
            <a:r>
              <a:rPr dirty="0"/>
              <a:t> discriminant </a:t>
            </a:r>
            <a:r>
              <a:rPr dirty="0" err="1"/>
              <a:t>statistiquement</a:t>
            </a:r>
            <a:r>
              <a:rPr dirty="0"/>
              <a:t> </a:t>
            </a:r>
            <a:r>
              <a:rPr dirty="0" err="1"/>
              <a:t>l'intégration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7315200" cy="2286000"/>
          </a:xfrm>
          <a:prstGeom prst="roundRect">
            <a:avLst/>
          </a:prstGeom>
          <a:solidFill>
            <a:srgbClr val="FFF5F5"/>
          </a:solidFill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3931920"/>
            <a:ext cx="6766560" cy="1159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200" b="1">
                <a:solidFill>
                  <a:srgbClr val="C00000"/>
                </a:solidFill>
              </a:defRPr>
            </a:pPr>
            <a:r>
              <a:rPr dirty="0"/>
              <a:t> </a:t>
            </a:r>
            <a:r>
              <a:rPr sz="2000" dirty="0"/>
              <a:t>TOUTES LES AUTRES VARIABLES : NON SIGNIFICATIF (p &gt; 0.05)</a:t>
            </a:r>
          </a:p>
          <a:p>
            <a:pPr algn="ctr">
              <a:lnSpc>
                <a:spcPct val="140000"/>
              </a:lnSpc>
              <a:defRPr sz="1400">
                <a:solidFill>
                  <a:srgbClr val="595959"/>
                </a:solidFill>
              </a:defRPr>
            </a:pPr>
            <a:r>
              <a:rPr dirty="0" err="1"/>
              <a:t>Logement</a:t>
            </a:r>
            <a:r>
              <a:rPr dirty="0"/>
              <a:t> • </a:t>
            </a:r>
            <a:r>
              <a:rPr dirty="0" err="1"/>
              <a:t>Âge</a:t>
            </a:r>
            <a:r>
              <a:rPr dirty="0"/>
              <a:t> • </a:t>
            </a:r>
            <a:r>
              <a:rPr dirty="0" err="1"/>
              <a:t>Région</a:t>
            </a:r>
            <a:r>
              <a:rPr dirty="0"/>
              <a:t> • Sport • </a:t>
            </a:r>
            <a:r>
              <a:rPr dirty="0" err="1"/>
              <a:t>Niveau</a:t>
            </a:r>
            <a:r>
              <a:rPr dirty="0"/>
              <a:t> </a:t>
            </a:r>
            <a:r>
              <a:rPr dirty="0" err="1"/>
              <a:t>d'études</a:t>
            </a:r>
            <a:r>
              <a:rPr dirty="0"/>
              <a:t> • </a:t>
            </a:r>
            <a:r>
              <a:rPr dirty="0" err="1"/>
              <a:t>Parcours</a:t>
            </a:r>
            <a:r>
              <a:rPr dirty="0"/>
              <a:t> • </a:t>
            </a:r>
            <a:r>
              <a:rPr dirty="0" err="1"/>
              <a:t>Nationalité</a:t>
            </a:r>
            <a:r>
              <a:rPr dirty="0"/>
              <a:t> • Situation </a:t>
            </a:r>
            <a:r>
              <a:rPr dirty="0" err="1"/>
              <a:t>familiale</a:t>
            </a:r>
            <a:r>
              <a:rPr dirty="0"/>
              <a:t> • Temps de </a:t>
            </a:r>
            <a:r>
              <a:rPr dirty="0" err="1"/>
              <a:t>trajet</a:t>
            </a:r>
            <a:r>
              <a:rPr dirty="0"/>
              <a:t> • Association • Études des parents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548640" cy="5486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2860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CLASSIFICATION - Dendrogramme CAH</a:t>
            </a:r>
          </a:p>
        </p:txBody>
      </p:sp>
      <p:pic>
        <p:nvPicPr>
          <p:cNvPr id="6" name="Picture 5" descr="dendrogramme_CA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029200" cy="2855910"/>
          </a:xfrm>
          <a:prstGeom prst="rect">
            <a:avLst/>
          </a:prstGeom>
        </p:spPr>
      </p:pic>
      <p:pic>
        <p:nvPicPr>
          <p:cNvPr id="7" name="Picture 6" descr="silhouette_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438" y="1425348"/>
            <a:ext cx="3328939" cy="2331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4754880"/>
            <a:ext cx="8229600" cy="1645920"/>
          </a:xfrm>
          <a:prstGeom prst="roundRect">
            <a:avLst/>
          </a:prstGeom>
          <a:solidFill>
            <a:srgbClr val="FFFAF0"/>
          </a:solidFill>
          <a:ln w="381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7680960" cy="82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400" b="1">
                <a:solidFill>
                  <a:srgbClr val="ED7D31"/>
                </a:solidFill>
              </a:defRPr>
            </a:pPr>
            <a:r>
              <a:rPr dirty="0"/>
              <a:t> CHOIX : k = 4 CLASSES</a:t>
            </a:r>
          </a:p>
          <a:p>
            <a:pPr algn="ctr">
              <a:defRPr sz="1500">
                <a:solidFill>
                  <a:srgbClr val="595959"/>
                </a:solidFill>
              </a:defRPr>
            </a:pPr>
            <a:r>
              <a:rPr dirty="0"/>
              <a:t>Critères : </a:t>
            </a:r>
            <a:r>
              <a:rPr dirty="0" err="1"/>
              <a:t>cassure</a:t>
            </a:r>
            <a:r>
              <a:rPr dirty="0"/>
              <a:t> </a:t>
            </a:r>
            <a:r>
              <a:rPr dirty="0" err="1"/>
              <a:t>dendrogramme</a:t>
            </a:r>
            <a:r>
              <a:rPr dirty="0"/>
              <a:t> + silhouette scores + </a:t>
            </a:r>
            <a:r>
              <a:rPr dirty="0" err="1"/>
              <a:t>interprétabilité</a:t>
            </a:r>
            <a:r>
              <a:rPr dirty="0"/>
              <a:t> + </a:t>
            </a:r>
            <a:r>
              <a:rPr dirty="0" err="1"/>
              <a:t>effectifs</a:t>
            </a:r>
            <a:r>
              <a:rPr dirty="0"/>
              <a:t> </a:t>
            </a:r>
            <a:r>
              <a:rPr dirty="0" err="1"/>
              <a:t>suffisants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👥 LES 4 PROFILS D'INTÉGRATION</a:t>
            </a:r>
          </a:p>
        </p:txBody>
      </p:sp>
      <p:pic>
        <p:nvPicPr>
          <p:cNvPr id="4" name="Picture 3" descr="plan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486400" cy="45643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371600"/>
            <a:ext cx="2468880" cy="73152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09360" y="1417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Classe 1 - ISOLÉS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n = 78 (12.5%)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377440"/>
            <a:ext cx="2468880" cy="73152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2423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Classe 2 - PEU INTÉGRÉS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n = 425 (68.0%)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383280"/>
            <a:ext cx="2468880" cy="7315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34290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Classe 3 - BIEN INTÉGRÉS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n = 65 (10.4%)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389120"/>
            <a:ext cx="2468880" cy="73152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44348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Classe 4 - TRÈS INTÉGRÉS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n = 57 (9.1%)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🌳 ARBRE DE DÉCISION EXPLICATIF</a:t>
            </a:r>
          </a:p>
        </p:txBody>
      </p:sp>
      <p:pic>
        <p:nvPicPr>
          <p:cNvPr id="4" name="Picture 3" descr="arbre_decision_explicat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40" y="1097280"/>
            <a:ext cx="6677877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66819" y="1371600"/>
            <a:ext cx="3657600" cy="296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F4E79"/>
                </a:solidFill>
              </a:defRPr>
            </a:pPr>
            <a:r>
              <a:rPr lang="fr-FR" dirty="0"/>
              <a:t>I</a:t>
            </a:r>
            <a:r>
              <a:rPr dirty="0"/>
              <a:t>NTERPRÉTATION</a:t>
            </a:r>
          </a:p>
          <a:p>
            <a:pPr>
              <a:lnSpc>
                <a:spcPct val="130000"/>
              </a:lnSpc>
              <a:spcAft>
                <a:spcPts val="1500"/>
              </a:spcAft>
              <a:defRPr sz="1400">
                <a:solidFill>
                  <a:srgbClr val="595959"/>
                </a:solidFill>
              </a:defRPr>
            </a:pPr>
            <a:r>
              <a:rPr dirty="0" err="1"/>
              <a:t>L'arbre</a:t>
            </a:r>
            <a:r>
              <a:rPr dirty="0"/>
              <a:t> de </a:t>
            </a:r>
            <a:r>
              <a:rPr dirty="0" err="1"/>
              <a:t>décision</a:t>
            </a:r>
            <a:r>
              <a:rPr dirty="0"/>
              <a:t> </a:t>
            </a:r>
            <a:r>
              <a:rPr dirty="0" err="1"/>
              <a:t>identifie</a:t>
            </a:r>
            <a:r>
              <a:rPr dirty="0"/>
              <a:t> les </a:t>
            </a:r>
            <a:r>
              <a:rPr dirty="0" err="1"/>
              <a:t>règles</a:t>
            </a:r>
            <a:r>
              <a:rPr dirty="0"/>
              <a:t> qui </a:t>
            </a:r>
            <a:r>
              <a:rPr dirty="0" err="1"/>
              <a:t>caractérisent</a:t>
            </a:r>
            <a:r>
              <a:rPr dirty="0"/>
              <a:t> </a:t>
            </a:r>
            <a:r>
              <a:rPr dirty="0" err="1"/>
              <a:t>chaque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600" b="1">
                <a:solidFill>
                  <a:srgbClr val="4472C4"/>
                </a:solidFill>
              </a:defRPr>
            </a:pPr>
            <a:r>
              <a:rPr dirty="0"/>
              <a:t>Variables </a:t>
            </a:r>
            <a:r>
              <a:rPr dirty="0" err="1"/>
              <a:t>clés</a:t>
            </a:r>
            <a:r>
              <a:rPr dirty="0"/>
              <a:t> :</a:t>
            </a:r>
          </a:p>
          <a:p>
            <a:pPr>
              <a:spcAft>
                <a:spcPts val="600"/>
              </a:spcAft>
              <a:defRPr sz="1300">
                <a:solidFill>
                  <a:srgbClr val="595959"/>
                </a:solidFill>
              </a:defRPr>
            </a:pPr>
            <a:r>
              <a:rPr dirty="0"/>
              <a:t>• </a:t>
            </a:r>
            <a:r>
              <a:rPr dirty="0" err="1"/>
              <a:t>Heures</a:t>
            </a:r>
            <a:r>
              <a:rPr dirty="0"/>
              <a:t> </a:t>
            </a:r>
            <a:r>
              <a:rPr dirty="0" err="1"/>
              <a:t>loisirs</a:t>
            </a:r>
            <a:r>
              <a:rPr dirty="0"/>
              <a:t> campus</a:t>
            </a:r>
          </a:p>
          <a:p>
            <a:pPr>
              <a:spcAft>
                <a:spcPts val="600"/>
              </a:spcAft>
              <a:defRPr sz="1300">
                <a:solidFill>
                  <a:srgbClr val="595959"/>
                </a:solidFill>
              </a:defRPr>
            </a:pPr>
            <a:r>
              <a:rPr dirty="0"/>
              <a:t>• </a:t>
            </a:r>
            <a:r>
              <a:rPr dirty="0" err="1"/>
              <a:t>Fréquence</a:t>
            </a:r>
            <a:r>
              <a:rPr dirty="0"/>
              <a:t> soirées</a:t>
            </a:r>
          </a:p>
          <a:p>
            <a:pPr>
              <a:spcAft>
                <a:spcPts val="600"/>
              </a:spcAft>
              <a:defRPr sz="1300">
                <a:solidFill>
                  <a:srgbClr val="595959"/>
                </a:solidFill>
              </a:defRPr>
            </a:pPr>
            <a:r>
              <a:rPr dirty="0"/>
              <a:t>• Mode de travail</a:t>
            </a:r>
          </a:p>
          <a:p>
            <a:pPr>
              <a:spcAft>
                <a:spcPts val="600"/>
              </a:spcAft>
              <a:defRPr sz="1300">
                <a:solidFill>
                  <a:srgbClr val="595959"/>
                </a:solidFill>
              </a:defRPr>
            </a:pPr>
            <a:r>
              <a:rPr dirty="0"/>
              <a:t>• Usage LILLIAD</a:t>
            </a:r>
          </a:p>
          <a:p>
            <a:pPr>
              <a:spcAft>
                <a:spcPts val="600"/>
              </a:spcAft>
              <a:defRPr sz="1300">
                <a:solidFill>
                  <a:srgbClr val="595959"/>
                </a:solidFill>
              </a:defRPr>
            </a:pPr>
            <a:r>
              <a:rPr dirty="0"/>
              <a:t>• Participation associations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9716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 CARACTÉRISATION DES 4 PROFILS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4114800" cy="2560320"/>
          </a:xfrm>
          <a:prstGeom prst="roundRect">
            <a:avLst/>
          </a:prstGeom>
          <a:solidFill>
            <a:srgbClr val="FFF0F0"/>
          </a:solidFill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74903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C00000"/>
                </a:solidFill>
              </a:defRPr>
            </a:pPr>
            <a:r>
              <a:t>🔴 CLASSE 1 - ISOLÉS (12.5%)</a:t>
            </a:r>
          </a:p>
          <a:p>
            <a:pPr>
              <a:spcAft>
                <a:spcPts val="400"/>
              </a:spcAft>
              <a:defRPr sz="1200">
                <a:solidFill>
                  <a:srgbClr val="595959"/>
                </a:solidFill>
              </a:defRPr>
            </a:pPr>
            <a:r>
              <a:t>✓ Usage intensif campus (+16h)</a:t>
            </a:r>
          </a:p>
          <a:p>
            <a:pPr>
              <a:spcAft>
                <a:spcPts val="400"/>
              </a:spcAft>
              <a:defRPr sz="1200">
                <a:solidFill>
                  <a:srgbClr val="595959"/>
                </a:solidFill>
              </a:defRPr>
            </a:pPr>
            <a:r>
              <a:t>✓ Membres associations</a:t>
            </a:r>
          </a:p>
          <a:p>
            <a:pPr>
              <a:spcAft>
                <a:spcPts val="400"/>
              </a:spcAft>
              <a:defRPr sz="1200">
                <a:solidFill>
                  <a:srgbClr val="595959"/>
                </a:solidFill>
              </a:defRPr>
            </a:pPr>
            <a:r>
              <a:t>✓ Travaillent seuls</a:t>
            </a:r>
          </a:p>
          <a:p>
            <a:pPr>
              <a:spcAft>
                <a:spcPts val="400"/>
              </a:spcAft>
              <a:defRPr sz="1200">
                <a:solidFill>
                  <a:srgbClr val="595959"/>
                </a:solidFill>
              </a:defRPr>
            </a:pPr>
            <a:r>
              <a:t>✗ Vie sociale limitée</a:t>
            </a:r>
          </a:p>
          <a:p>
            <a:pPr>
              <a:spcAft>
                <a:spcPts val="400"/>
              </a:spcAft>
              <a:defRPr sz="1200">
                <a:solidFill>
                  <a:srgbClr val="595959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00" b="1">
                <a:solidFill>
                  <a:srgbClr val="C00000"/>
                </a:solidFill>
              </a:defRPr>
            </a:pPr>
            <a:r>
              <a:t>→ Investis académiquement</a:t>
            </a:r>
          </a:p>
          <a:p>
            <a:pPr>
              <a:spcAft>
                <a:spcPts val="400"/>
              </a:spcAft>
              <a:defRPr sz="1200">
                <a:solidFill>
                  <a:srgbClr val="595959"/>
                </a:solidFill>
              </a:defRPr>
            </a:pPr>
            <a:r>
              <a:t>   mais isolés socialement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188720"/>
            <a:ext cx="3931920" cy="2560320"/>
          </a:xfrm>
          <a:prstGeom prst="roundRect">
            <a:avLst/>
          </a:prstGeom>
          <a:solidFill>
            <a:srgbClr val="FFF8E6"/>
          </a:solidFill>
          <a:ln w="381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0" y="1371600"/>
            <a:ext cx="3566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D7D31"/>
                </a:solidFill>
              </a:defRPr>
            </a:pPr>
            <a:r>
              <a:t>🟠 CLASSE 2 - PEU INTÉGRÉS (68%)</a:t>
            </a:r>
          </a:p>
          <a:p>
            <a:pPr>
              <a:spcAft>
                <a:spcPts val="400"/>
              </a:spcAft>
              <a:defRPr sz="1200">
                <a:solidFill>
                  <a:srgbClr val="595959"/>
                </a:solidFill>
              </a:defRPr>
            </a:pPr>
            <a:r>
              <a:t>✓ Intégration moyenne</a:t>
            </a:r>
          </a:p>
          <a:p>
            <a:pPr>
              <a:spcAft>
                <a:spcPts val="400"/>
              </a:spcAft>
              <a:defRPr sz="1200">
                <a:solidFill>
                  <a:srgbClr val="595959"/>
                </a:solidFill>
              </a:defRPr>
            </a:pPr>
            <a:r>
              <a:t>✓ Quelques liens sociaux</a:t>
            </a:r>
          </a:p>
          <a:p>
            <a:pPr>
              <a:spcAft>
                <a:spcPts val="400"/>
              </a:spcAft>
              <a:defRPr sz="1200">
                <a:solidFill>
                  <a:srgbClr val="595959"/>
                </a:solidFill>
              </a:defRPr>
            </a:pPr>
            <a:r>
              <a:t>✓ Présence modérée</a:t>
            </a:r>
          </a:p>
          <a:p>
            <a:pPr>
              <a:spcAft>
                <a:spcPts val="400"/>
              </a:spcAft>
              <a:defRPr sz="1200">
                <a:solidFill>
                  <a:srgbClr val="595959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00" b="1">
                <a:solidFill>
                  <a:srgbClr val="ED7D31"/>
                </a:solidFill>
              </a:defRPr>
            </a:pPr>
            <a:r>
              <a:t>→ Profil MAJORITAIRE</a:t>
            </a:r>
          </a:p>
          <a:p>
            <a:pPr>
              <a:spcAft>
                <a:spcPts val="400"/>
              </a:spcAft>
              <a:defRPr sz="1200">
                <a:solidFill>
                  <a:srgbClr val="595959"/>
                </a:solidFill>
              </a:defRPr>
            </a:pPr>
            <a:r>
              <a:t>   Ni isolés ni hyper-intégrés</a:t>
            </a:r>
          </a:p>
          <a:p>
            <a:pPr>
              <a:spcAft>
                <a:spcPts val="400"/>
              </a:spcAft>
              <a:defRPr sz="1200">
                <a:solidFill>
                  <a:srgbClr val="595959"/>
                </a:solidFill>
              </a:defRPr>
            </a:pPr>
            <a:r>
              <a:t>   Adaptation "standard"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4114800" cy="2560320"/>
          </a:xfrm>
          <a:prstGeom prst="roundRect">
            <a:avLst/>
          </a:prstGeom>
          <a:solidFill>
            <a:srgbClr val="E6F0FF"/>
          </a:solidFill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374903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472C4"/>
                </a:solidFill>
              </a:defRPr>
            </a:pPr>
            <a:r>
              <a:t>🔵 CLASSE 3 - BIEN INTÉGRÉS (10.4%)</a:t>
            </a:r>
          </a:p>
          <a:p>
            <a:pPr>
              <a:spcAft>
                <a:spcPts val="400"/>
              </a:spcAft>
              <a:defRPr sz="1200">
                <a:solidFill>
                  <a:srgbClr val="595959"/>
                </a:solidFill>
              </a:defRPr>
            </a:pPr>
            <a:r>
              <a:t>✓ Bonne participation sociale</a:t>
            </a:r>
          </a:p>
          <a:p>
            <a:pPr>
              <a:spcAft>
                <a:spcPts val="400"/>
              </a:spcAft>
              <a:defRPr sz="1200">
                <a:solidFill>
                  <a:srgbClr val="595959"/>
                </a:solidFill>
              </a:defRPr>
            </a:pPr>
            <a:r>
              <a:t>✓ Réseau développé</a:t>
            </a:r>
          </a:p>
          <a:p>
            <a:pPr>
              <a:spcAft>
                <a:spcPts val="400"/>
              </a:spcAft>
              <a:defRPr sz="1200">
                <a:solidFill>
                  <a:srgbClr val="595959"/>
                </a:solidFill>
              </a:defRPr>
            </a:pPr>
            <a:r>
              <a:t>✓ Équilibre études/social</a:t>
            </a:r>
          </a:p>
          <a:p>
            <a:pPr>
              <a:spcAft>
                <a:spcPts val="400"/>
              </a:spcAft>
              <a:defRPr sz="1200">
                <a:solidFill>
                  <a:srgbClr val="595959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00" b="1">
                <a:solidFill>
                  <a:srgbClr val="4472C4"/>
                </a:solidFill>
              </a:defRPr>
            </a:pPr>
            <a:r>
              <a:t>→ Adaptation réussie</a:t>
            </a:r>
          </a:p>
          <a:p>
            <a:pPr>
              <a:spcAft>
                <a:spcPts val="400"/>
              </a:spcAft>
              <a:defRPr sz="1200">
                <a:solidFill>
                  <a:srgbClr val="595959"/>
                </a:solidFill>
              </a:defRPr>
            </a:pPr>
            <a:r>
              <a:t>   Intégration harmonieuse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3931920"/>
            <a:ext cx="3931920" cy="2560320"/>
          </a:xfrm>
          <a:prstGeom prst="roundRect">
            <a:avLst/>
          </a:prstGeom>
          <a:solidFill>
            <a:srgbClr val="F0FFF0"/>
          </a:solidFill>
          <a:ln w="381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60" y="4114800"/>
            <a:ext cx="3566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70AD47"/>
                </a:solidFill>
              </a:defRPr>
            </a:pPr>
            <a:r>
              <a:t>🟢 CLASSE 4 - TRÈS INTÉGRÉS (9.1%)</a:t>
            </a:r>
          </a:p>
          <a:p>
            <a:pPr>
              <a:spcAft>
                <a:spcPts val="400"/>
              </a:spcAft>
              <a:defRPr sz="1200">
                <a:solidFill>
                  <a:srgbClr val="595959"/>
                </a:solidFill>
              </a:defRPr>
            </a:pPr>
            <a:r>
              <a:t>✓ Forte implication</a:t>
            </a:r>
          </a:p>
          <a:p>
            <a:pPr>
              <a:spcAft>
                <a:spcPts val="400"/>
              </a:spcAft>
              <a:defRPr sz="1200">
                <a:solidFill>
                  <a:srgbClr val="595959"/>
                </a:solidFill>
              </a:defRPr>
            </a:pPr>
            <a:r>
              <a:t>✓ Leaders sociaux</a:t>
            </a:r>
          </a:p>
          <a:p>
            <a:pPr>
              <a:spcAft>
                <a:spcPts val="400"/>
              </a:spcAft>
              <a:defRPr sz="1200">
                <a:solidFill>
                  <a:srgbClr val="595959"/>
                </a:solidFill>
              </a:defRPr>
            </a:pPr>
            <a:r>
              <a:t>✓ Nombreuses relations</a:t>
            </a:r>
          </a:p>
          <a:p>
            <a:pPr>
              <a:spcAft>
                <a:spcPts val="400"/>
              </a:spcAft>
              <a:defRPr sz="1200">
                <a:solidFill>
                  <a:srgbClr val="595959"/>
                </a:solidFill>
              </a:defRPr>
            </a:pPr>
            <a:r>
              <a:t>✓ Actifs associations</a:t>
            </a:r>
          </a:p>
          <a:p>
            <a:pPr>
              <a:spcAft>
                <a:spcPts val="400"/>
              </a:spcAft>
              <a:defRPr sz="1200">
                <a:solidFill>
                  <a:srgbClr val="595959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00" b="1">
                <a:solidFill>
                  <a:srgbClr val="70AD47"/>
                </a:solidFill>
              </a:defRPr>
            </a:pPr>
            <a:r>
              <a:t>→ Hyper-actifs socialement</a:t>
            </a:r>
          </a:p>
          <a:p>
            <a:pPr>
              <a:spcAft>
                <a:spcPts val="400"/>
              </a:spcAft>
              <a:defRPr sz="1200">
                <a:solidFill>
                  <a:srgbClr val="595959"/>
                </a:solidFill>
              </a:defRPr>
            </a:pPr>
            <a:r>
              <a:t>   Ambassadeurs intégration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6746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SYNTHÈSE DES RÉSULTATS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931920" cy="164592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566160" cy="940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C00000"/>
                </a:solidFill>
              </a:defRPr>
            </a:pPr>
            <a:r>
              <a:rPr dirty="0"/>
              <a:t> RÉSULTAT SURPRENANT</a:t>
            </a:r>
          </a:p>
          <a:p>
            <a:pPr>
              <a:lnSpc>
                <a:spcPct val="130000"/>
              </a:lnSpc>
              <a:defRPr sz="1300">
                <a:solidFill>
                  <a:srgbClr val="595959"/>
                </a:solidFill>
              </a:defRPr>
            </a:pPr>
            <a:r>
              <a:rPr dirty="0"/>
              <a:t>Seul le SEXE </a:t>
            </a:r>
            <a:r>
              <a:rPr dirty="0" err="1"/>
              <a:t>discrimine</a:t>
            </a:r>
            <a:r>
              <a:rPr dirty="0"/>
              <a:t> </a:t>
            </a:r>
            <a:r>
              <a:rPr dirty="0" err="1"/>
              <a:t>significativement</a:t>
            </a:r>
            <a:r>
              <a:rPr dirty="0"/>
              <a:t> </a:t>
            </a:r>
            <a:r>
              <a:rPr dirty="0" err="1"/>
              <a:t>l'intégration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754880" y="1188720"/>
            <a:ext cx="3931920" cy="164592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0" y="1371600"/>
            <a:ext cx="3566160" cy="680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70AD47"/>
                </a:solidFill>
              </a:defRPr>
            </a:pPr>
            <a:r>
              <a:rPr dirty="0"/>
              <a:t> SEGMENTATION RÉUSSIE</a:t>
            </a:r>
          </a:p>
          <a:p>
            <a:pPr>
              <a:lnSpc>
                <a:spcPct val="130000"/>
              </a:lnSpc>
              <a:defRPr sz="1300">
                <a:solidFill>
                  <a:srgbClr val="595959"/>
                </a:solidFill>
              </a:defRPr>
            </a:pPr>
            <a:r>
              <a:rPr dirty="0"/>
              <a:t>4 </a:t>
            </a:r>
            <a:r>
              <a:rPr dirty="0" err="1"/>
              <a:t>profils</a:t>
            </a:r>
            <a:r>
              <a:rPr dirty="0"/>
              <a:t> </a:t>
            </a:r>
            <a:r>
              <a:rPr dirty="0" err="1"/>
              <a:t>distincts</a:t>
            </a:r>
            <a:r>
              <a:rPr dirty="0"/>
              <a:t> et </a:t>
            </a:r>
            <a:r>
              <a:rPr dirty="0" err="1"/>
              <a:t>interprétables</a:t>
            </a:r>
            <a:r>
              <a:rPr dirty="0"/>
              <a:t> </a:t>
            </a:r>
            <a:r>
              <a:rPr dirty="0" err="1"/>
              <a:t>identifiés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3931920" cy="1645920"/>
          </a:xfrm>
          <a:prstGeom prst="roundRect">
            <a:avLst/>
          </a:prstGeom>
          <a:solidFill>
            <a:srgbClr val="FFFAF0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3566160" cy="940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D7D31"/>
                </a:solidFill>
              </a:defRPr>
            </a:pPr>
            <a:r>
              <a:rPr dirty="0"/>
              <a:t> GROUPE À RISQUE</a:t>
            </a:r>
          </a:p>
          <a:p>
            <a:pPr>
              <a:lnSpc>
                <a:spcPct val="130000"/>
              </a:lnSpc>
              <a:defRPr sz="1300">
                <a:solidFill>
                  <a:srgbClr val="595959"/>
                </a:solidFill>
              </a:defRPr>
            </a:pPr>
            <a:r>
              <a:rPr dirty="0"/>
              <a:t>12.5% des </a:t>
            </a:r>
            <a:r>
              <a:rPr dirty="0" err="1"/>
              <a:t>étudiants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isolés</a:t>
            </a:r>
            <a:r>
              <a:rPr dirty="0"/>
              <a:t> et </a:t>
            </a:r>
            <a:r>
              <a:rPr dirty="0" err="1"/>
              <a:t>nécessitent</a:t>
            </a:r>
            <a:r>
              <a:rPr dirty="0"/>
              <a:t> un </a:t>
            </a:r>
            <a:r>
              <a:rPr dirty="0" err="1"/>
              <a:t>accompagnement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754880" y="3017520"/>
            <a:ext cx="3931920" cy="164592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60" y="3200400"/>
            <a:ext cx="3566160" cy="680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472C4"/>
                </a:solidFill>
              </a:defRPr>
            </a:pPr>
            <a:r>
              <a:rPr dirty="0"/>
              <a:t> POTENTIEL D'AMÉLIORATION</a:t>
            </a:r>
          </a:p>
          <a:p>
            <a:pPr>
              <a:lnSpc>
                <a:spcPct val="130000"/>
              </a:lnSpc>
              <a:defRPr sz="1300">
                <a:solidFill>
                  <a:srgbClr val="595959"/>
                </a:solidFill>
              </a:defRPr>
            </a:pPr>
            <a:r>
              <a:rPr dirty="0"/>
              <a:t>68%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intégration</a:t>
            </a:r>
            <a:r>
              <a:rPr dirty="0"/>
              <a:t> </a:t>
            </a:r>
            <a:r>
              <a:rPr dirty="0" err="1"/>
              <a:t>moyenne</a:t>
            </a:r>
            <a:r>
              <a:rPr dirty="0"/>
              <a:t> </a:t>
            </a:r>
            <a:r>
              <a:rPr dirty="0" err="1"/>
              <a:t>peuvent</a:t>
            </a:r>
            <a:r>
              <a:rPr dirty="0"/>
              <a:t> </a:t>
            </a:r>
            <a:r>
              <a:rPr dirty="0" err="1"/>
              <a:t>progresser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8229600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4E79"/>
                </a:solidFill>
              </a:defRPr>
            </a:pPr>
            <a:r>
              <a:rPr dirty="0"/>
              <a:t>IMPLICATIONS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Cibler en priorité les étudiants isolés avec un accompagnement dédié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Mieux comprendre l’effet du genre (analyse complémentaire)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Les comportements pèsent plus que les variables sociodémographiques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85932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RECOMMANDATIONS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D7D31"/>
                </a:solidFill>
              </a:defRPr>
            </a:pPr>
            <a:r>
              <a:rPr dirty="0"/>
              <a:t>ACTIONS PRIORITAIRES</a:t>
            </a:r>
          </a:p>
          <a:p>
            <a:pPr>
              <a:spcAft>
                <a:spcPts val="600"/>
              </a:spcAft>
              <a:defRPr sz="1500" b="1">
                <a:solidFill>
                  <a:srgbClr val="1F4E79"/>
                </a:solidFill>
              </a:defRPr>
            </a:pPr>
            <a:r>
              <a:rPr dirty="0"/>
              <a:t>CLASSE 1 (</a:t>
            </a:r>
            <a:r>
              <a:rPr dirty="0" err="1"/>
              <a:t>Isolés</a:t>
            </a:r>
            <a:r>
              <a:rPr dirty="0"/>
              <a:t>)</a:t>
            </a:r>
          </a:p>
          <a:p>
            <a:pPr>
              <a:spcAft>
                <a:spcPts val="400"/>
              </a:spcAft>
              <a:defRPr sz="1300">
                <a:solidFill>
                  <a:srgbClr val="595959"/>
                </a:solidFill>
              </a:defRPr>
            </a:pPr>
            <a:r>
              <a:rPr dirty="0"/>
              <a:t>• </a:t>
            </a:r>
            <a:r>
              <a:rPr dirty="0" err="1"/>
              <a:t>Programme</a:t>
            </a:r>
            <a:r>
              <a:rPr dirty="0"/>
              <a:t> de </a:t>
            </a:r>
            <a:r>
              <a:rPr dirty="0" err="1"/>
              <a:t>parrainage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595959"/>
                </a:solidFill>
              </a:defRPr>
            </a:pPr>
            <a:r>
              <a:rPr dirty="0"/>
              <a:t>• </a:t>
            </a:r>
            <a:r>
              <a:rPr dirty="0" err="1"/>
              <a:t>Groupes</a:t>
            </a:r>
            <a:r>
              <a:rPr dirty="0"/>
              <a:t> de travail </a:t>
            </a:r>
            <a:r>
              <a:rPr dirty="0" err="1"/>
              <a:t>guidés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595959"/>
                </a:solidFill>
              </a:defRPr>
            </a:pPr>
            <a:r>
              <a:rPr dirty="0"/>
              <a:t>• </a:t>
            </a:r>
            <a:r>
              <a:rPr dirty="0" err="1"/>
              <a:t>Suivi</a:t>
            </a:r>
            <a:r>
              <a:rPr dirty="0"/>
              <a:t> </a:t>
            </a:r>
            <a:r>
              <a:rPr dirty="0" err="1"/>
              <a:t>individualisé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595959"/>
                </a:solidFill>
              </a:defRPr>
            </a:pPr>
            <a:r>
              <a:rPr dirty="0"/>
              <a:t>• </a:t>
            </a:r>
            <a:r>
              <a:rPr dirty="0" err="1"/>
              <a:t>Événements</a:t>
            </a:r>
            <a:r>
              <a:rPr dirty="0"/>
              <a:t> </a:t>
            </a:r>
            <a:r>
              <a:rPr dirty="0" err="1"/>
              <a:t>sociaux</a:t>
            </a:r>
            <a:r>
              <a:rPr dirty="0"/>
              <a:t> </a:t>
            </a:r>
            <a:r>
              <a:rPr dirty="0" err="1"/>
              <a:t>ciblés</a:t>
            </a:r>
            <a:endParaRPr dirty="0"/>
          </a:p>
          <a:p>
            <a:pPr>
              <a:spcAft>
                <a:spcPts val="1000"/>
              </a:spcAft>
            </a:pPr>
            <a:endParaRPr dirty="0"/>
          </a:p>
          <a:p>
            <a:pPr>
              <a:spcAft>
                <a:spcPts val="600"/>
              </a:spcAft>
              <a:defRPr sz="1500" b="1">
                <a:solidFill>
                  <a:srgbClr val="1F4E79"/>
                </a:solidFill>
              </a:defRPr>
            </a:pPr>
            <a:r>
              <a:rPr dirty="0"/>
              <a:t>CLASSE 2 (Peu </a:t>
            </a:r>
            <a:r>
              <a:rPr dirty="0" err="1"/>
              <a:t>intégrés</a:t>
            </a:r>
            <a:r>
              <a:rPr dirty="0"/>
              <a:t>)</a:t>
            </a:r>
          </a:p>
          <a:p>
            <a:pPr>
              <a:spcAft>
                <a:spcPts val="400"/>
              </a:spcAft>
              <a:defRPr sz="1300">
                <a:solidFill>
                  <a:srgbClr val="595959"/>
                </a:solidFill>
              </a:defRPr>
            </a:pPr>
            <a:r>
              <a:rPr dirty="0"/>
              <a:t>• </a:t>
            </a:r>
            <a:r>
              <a:rPr dirty="0" err="1"/>
              <a:t>Activités</a:t>
            </a:r>
            <a:r>
              <a:rPr dirty="0"/>
              <a:t> collectives </a:t>
            </a:r>
            <a:r>
              <a:rPr dirty="0" err="1"/>
              <a:t>variées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595959"/>
                </a:solidFill>
              </a:defRPr>
            </a:pPr>
            <a:r>
              <a:rPr dirty="0"/>
              <a:t>• Encourager associations</a:t>
            </a:r>
          </a:p>
          <a:p>
            <a:pPr>
              <a:spcAft>
                <a:spcPts val="400"/>
              </a:spcAft>
              <a:defRPr sz="1300">
                <a:solidFill>
                  <a:srgbClr val="595959"/>
                </a:solidFill>
              </a:defRPr>
            </a:pPr>
            <a:r>
              <a:rPr dirty="0"/>
              <a:t>• </a:t>
            </a:r>
            <a:r>
              <a:rPr dirty="0" err="1"/>
              <a:t>Espaces</a:t>
            </a:r>
            <a:r>
              <a:rPr dirty="0"/>
              <a:t> de </a:t>
            </a:r>
            <a:r>
              <a:rPr dirty="0" err="1"/>
              <a:t>socialisation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595959"/>
                </a:solidFill>
              </a:defRPr>
            </a:pPr>
            <a:r>
              <a:rPr dirty="0"/>
              <a:t>• Ateliers </a:t>
            </a:r>
            <a:r>
              <a:rPr dirty="0" err="1"/>
              <a:t>compétences</a:t>
            </a:r>
            <a:r>
              <a:rPr dirty="0"/>
              <a:t> </a:t>
            </a:r>
            <a:r>
              <a:rPr dirty="0" err="1"/>
              <a:t>sociales</a:t>
            </a:r>
            <a:endParaRPr dirty="0"/>
          </a:p>
          <a:p>
            <a:pPr>
              <a:spcAft>
                <a:spcPts val="1000"/>
              </a:spcAft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931920" cy="3921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70AD47"/>
                </a:solidFill>
              </a:defRPr>
            </a:pPr>
            <a:r>
              <a:rPr dirty="0"/>
              <a:t>APPROFONDISSEMENTS</a:t>
            </a:r>
          </a:p>
          <a:p>
            <a:pPr>
              <a:spcAft>
                <a:spcPts val="1000"/>
              </a:spcAft>
              <a:defRPr sz="1400">
                <a:solidFill>
                  <a:srgbClr val="595959"/>
                </a:solidFill>
              </a:defRPr>
            </a:pPr>
            <a:r>
              <a:rPr dirty="0"/>
              <a:t>• Étude qualitative sur le </a:t>
            </a:r>
            <a:r>
              <a:rPr dirty="0" err="1"/>
              <a:t>rôle</a:t>
            </a:r>
            <a:r>
              <a:rPr dirty="0"/>
              <a:t> du genre</a:t>
            </a:r>
          </a:p>
          <a:p>
            <a:pPr>
              <a:spcAft>
                <a:spcPts val="1000"/>
              </a:spcAft>
              <a:defRPr sz="1400">
                <a:solidFill>
                  <a:srgbClr val="595959"/>
                </a:solidFill>
              </a:defRPr>
            </a:pPr>
            <a:r>
              <a:rPr dirty="0"/>
              <a:t>• </a:t>
            </a:r>
            <a:r>
              <a:rPr dirty="0" err="1"/>
              <a:t>Suivi</a:t>
            </a:r>
            <a:r>
              <a:rPr dirty="0"/>
              <a:t> longitudinal (</a:t>
            </a:r>
            <a:r>
              <a:rPr dirty="0" err="1"/>
              <a:t>évolution</a:t>
            </a:r>
            <a:r>
              <a:rPr dirty="0"/>
              <a:t> </a:t>
            </a:r>
            <a:r>
              <a:rPr dirty="0" err="1"/>
              <a:t>temporelle</a:t>
            </a:r>
            <a:r>
              <a:rPr dirty="0"/>
              <a:t>)</a:t>
            </a:r>
          </a:p>
          <a:p>
            <a:pPr>
              <a:spcAft>
                <a:spcPts val="1000"/>
              </a:spcAft>
              <a:defRPr sz="1400">
                <a:solidFill>
                  <a:srgbClr val="595959"/>
                </a:solidFill>
              </a:defRPr>
            </a:pPr>
            <a:r>
              <a:rPr dirty="0"/>
              <a:t>• </a:t>
            </a:r>
            <a:r>
              <a:rPr dirty="0" err="1"/>
              <a:t>Analyse</a:t>
            </a:r>
            <a:r>
              <a:rPr dirty="0"/>
              <a:t> des réseaux </a:t>
            </a:r>
            <a:r>
              <a:rPr dirty="0" err="1"/>
              <a:t>sociaux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595959"/>
                </a:solidFill>
              </a:defRPr>
            </a:pPr>
            <a:r>
              <a:rPr dirty="0"/>
              <a:t>• Impact des </a:t>
            </a:r>
            <a:r>
              <a:rPr dirty="0" err="1"/>
              <a:t>dispositifs</a:t>
            </a:r>
            <a:r>
              <a:rPr dirty="0"/>
              <a:t> </a:t>
            </a:r>
            <a:r>
              <a:rPr dirty="0" err="1"/>
              <a:t>d'accompagnement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595959"/>
                </a:solidFill>
              </a:defRPr>
            </a:pPr>
            <a:r>
              <a:rPr dirty="0"/>
              <a:t>• </a:t>
            </a:r>
            <a:r>
              <a:rPr dirty="0" err="1"/>
              <a:t>Comparaison</a:t>
            </a:r>
            <a:r>
              <a:rPr dirty="0"/>
              <a:t> inter-</a:t>
            </a:r>
            <a:r>
              <a:rPr dirty="0" err="1"/>
              <a:t>établissements</a:t>
            </a:r>
            <a:endParaRPr dirty="0"/>
          </a:p>
          <a:p>
            <a:pPr>
              <a:spcAft>
                <a:spcPts val="1500"/>
              </a:spcAft>
            </a:pPr>
            <a:endParaRPr dirty="0"/>
          </a:p>
          <a:p>
            <a:pPr>
              <a:spcAft>
                <a:spcPts val="1000"/>
              </a:spcAft>
              <a:defRPr sz="1800" b="1">
                <a:solidFill>
                  <a:srgbClr val="C00000"/>
                </a:solidFill>
              </a:defRPr>
            </a:pPr>
            <a:r>
              <a:rPr dirty="0"/>
              <a:t>LIMITES</a:t>
            </a:r>
          </a:p>
          <a:p>
            <a:pPr>
              <a:spcAft>
                <a:spcPts val="800"/>
              </a:spcAft>
              <a:defRPr sz="1300">
                <a:solidFill>
                  <a:srgbClr val="595959"/>
                </a:solidFill>
              </a:defRPr>
            </a:pPr>
            <a:r>
              <a:rPr dirty="0"/>
              <a:t>• Données </a:t>
            </a:r>
            <a:r>
              <a:rPr dirty="0" err="1"/>
              <a:t>transversales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595959"/>
                </a:solidFill>
              </a:defRPr>
            </a:pPr>
            <a:r>
              <a:rPr dirty="0"/>
              <a:t>• </a:t>
            </a:r>
            <a:r>
              <a:rPr dirty="0" err="1"/>
              <a:t>Biais</a:t>
            </a:r>
            <a:r>
              <a:rPr dirty="0"/>
              <a:t> de </a:t>
            </a:r>
            <a:r>
              <a:rPr dirty="0" err="1"/>
              <a:t>déclaration</a:t>
            </a:r>
            <a:r>
              <a:rPr dirty="0"/>
              <a:t> possible</a:t>
            </a:r>
          </a:p>
          <a:p>
            <a:pPr>
              <a:spcAft>
                <a:spcPts val="800"/>
              </a:spcAft>
              <a:defRPr sz="1300">
                <a:solidFill>
                  <a:srgbClr val="595959"/>
                </a:solidFill>
              </a:defRPr>
            </a:pPr>
            <a:r>
              <a:rPr dirty="0"/>
              <a:t>• </a:t>
            </a:r>
            <a:r>
              <a:rPr dirty="0" err="1"/>
              <a:t>Nécessite</a:t>
            </a:r>
            <a:r>
              <a:rPr dirty="0"/>
              <a:t> validation qualitative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640080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lang="fr-FR" dirty="0"/>
              <a:t>Cette étude met des visages derrière les chiffres : la majorité s’intègre partiellement et un groupe reste isolé. 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lang="fr-FR" dirty="0"/>
              <a:t>L’enjeu est humain avant tout : créer du lien, repérer ceux en difficulté et accompagner pour renforcer l’appartenance. 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lang="fr-FR" dirty="0"/>
              <a:t>Les données guident des actions concrètes au service du bien‑être étudiant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740</Words>
  <Application>Microsoft Office PowerPoint</Application>
  <PresentationFormat>Affichage à l'écran (4:3)</PresentationFormat>
  <Paragraphs>151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Oudjedene ZIOUI</cp:lastModifiedBy>
  <cp:revision>3</cp:revision>
  <dcterms:created xsi:type="dcterms:W3CDTF">2013-01-27T09:14:16Z</dcterms:created>
  <dcterms:modified xsi:type="dcterms:W3CDTF">2026-02-02T16:39:43Z</dcterms:modified>
  <cp:category/>
</cp:coreProperties>
</file>